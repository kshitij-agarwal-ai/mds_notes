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69"/>
  </p:normalViewPr>
  <p:slideViewPr>
    <p:cSldViewPr snapToGrid="0">
      <p:cViewPr>
        <p:scale>
          <a:sx n="88" d="100"/>
          <a:sy n="88" d="100"/>
        </p:scale>
        <p:origin x="11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CEBB-9FC7-AD43-FAF5-4C7D55F9E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8C1EF-336F-E381-0F75-B717BE892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435DD-150F-CC9D-70D7-FB057509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D6D30-A8AD-AF79-DEB8-13027D91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FB71-00A8-DC70-D556-963E679C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9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2658-FE5E-B356-A35B-28B09C87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0FCEA-EF4F-9596-340F-3B8426590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8A1F5-6194-2689-6CBA-B598FB2D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8C5A9-4DFD-4608-F606-CC0A537B6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F45CB-C65E-AA44-668B-488F2FBB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8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8B82-89E9-2098-0E1D-8D6C8229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CE6D9-161D-A2C1-19E2-ABA2405D9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DD660-5766-7334-2451-AEED79E3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341AA-AAEC-7505-ECC6-BBF731E3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A6D7A-B55F-E89E-D57B-2FB7FA2A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8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8C74-C65C-A2D9-6036-64FC9F03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6B02-DA1C-3E7A-36C2-A1CA416AF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A5CF3-8324-1D6C-2B49-1D9A8DECE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6756B-5F12-FA50-AA4C-8DF4F132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F320C-9CA3-B1BD-2430-E8E5238B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D4236-BBCA-DE21-A5EB-0CEBFA78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6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9BB3-39B8-9744-FAF4-FCECAB53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68305-3032-B011-03CA-B72DC1F9A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471FF-F903-31C0-E213-5BB82AB28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8C4855-F30A-25DA-FF03-4F7CAC915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995B0-0454-40D0-9082-15A4E1322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EBD95-D1FD-6C72-BFA4-A56928EE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B91A4-0D3A-9571-2187-0425BAC79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0BD61-8A24-3B29-3EE2-20DA2708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1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9D6A-4B60-B6EB-350E-010068D8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3279C-6827-ACB5-3E7F-9896DE21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2DA69-56BE-6ECF-1CB2-F4F57CEB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F2C86-97E1-78DD-3296-26518B15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7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D767D-0BD3-DEC2-37DD-D52B0DE6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72A17-A79A-09A3-A865-5048A431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D7589-43DE-67E2-CD65-3E2EC30A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0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BF5B-A4B2-6EC9-37FE-54236D78A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852F4-954D-58B6-3521-1A482A334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5B351-7D16-EA31-D72C-E25EA0147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BE72-48DF-DCE1-DEDE-FC5C3CFB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EADA5-1BD0-2835-11BC-2B08D3B1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3B2CB-D224-5BDF-3302-BE954C1F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7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9078-7E9A-6602-AAAA-77614F1BB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C6972-F372-5BFA-71A4-EACA42788D7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ADB51-1577-57BA-24DE-524A5008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4D646-CE9A-B19C-E3E5-8C0EECC47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17A47-AC80-0ED5-A3B5-71A2B26C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0927A-9041-3F3A-9E63-51244894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8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A4F-C081-E44C-8DF3-4AC60CF3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5888B-CC75-C050-1F45-608B5F404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D68AA-EF7E-5658-C300-5379506E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EB816-8F02-286C-67C1-789C8B4D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32DE3-D2A9-5243-A658-EC339BBC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4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50DECE-CB90-50DB-6518-531BBC496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45320-45D9-EA7E-1F56-A43280AA0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3C78-B0EB-43DE-23B1-EB63512E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F249E-8312-B61D-6CA1-6C3F8FA3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AC60D-2AE0-B634-19BC-591DFA3D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5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25189-72EE-E8BF-7F8A-D1D20DCA8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8765B-7641-EC6D-0045-BB8A29643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2DA2-07A9-91A7-880D-C865EA549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56471-47A5-5E44-9804-FD0E2A95F24B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F55AD-1DCD-15F1-BDB0-138DB2664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EFE10-33F8-8B0F-CE80-E780ED796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FFCA3-2A7D-534F-92AA-97EFE6EED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3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drr.io/r/stats/cor.html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drr.io/r/base/Log.html" TargetMode="External"/><Relationship Id="rId4" Type="http://schemas.openxmlformats.org/officeDocument/2006/relationships/hyperlink" Target="https://rdrr.io/r/base/seq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ED1C17-3424-E091-A55C-6DC284291956}"/>
                  </a:ext>
                </a:extLst>
              </p:cNvPr>
              <p:cNvSpPr txBox="1"/>
              <p:nvPr/>
            </p:nvSpPr>
            <p:spPr>
              <a:xfrm>
                <a:off x="0" y="0"/>
                <a:ext cx="5892800" cy="6745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Odds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Entropy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unc>
                      <m:funcPr>
                        <m:ctrlPr>
                          <a:rPr lang="en-IN" sz="1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IN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sz="10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Transformation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(</a:t>
                </a:r>
                <a:r>
                  <a:rPr lang="en-IN" sz="1000" b="1" dirty="0" err="1"/>
                  <a:t>d,p,q,r</a:t>
                </a:r>
                <a:r>
                  <a:rPr lang="en-IN" sz="1000" b="1" dirty="0"/>
                  <a:t>)</a:t>
                </a:r>
                <a:r>
                  <a:rPr lang="en-IN" sz="1000" b="1" dirty="0" err="1"/>
                  <a:t>binom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 err="1"/>
                  <a:t>binom</a:t>
                </a:r>
                <a:r>
                  <a:rPr lang="en-IN" sz="1000" dirty="0"/>
                  <a:t>: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IN" sz="1000" dirty="0"/>
                  <a:t>, choose(n, x)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000" b="1" dirty="0" err="1"/>
                  <a:t>geom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IN" sz="1000" dirty="0">
                    <a:effectLst/>
                  </a:rPr>
                  <a:t> ,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sSup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 err="1"/>
                  <a:t>nbinom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−1+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pois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lang="en-IN" sz="1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100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IN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1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IN" sz="1000" dirty="0">
                    <a:effectLst/>
                  </a:rPr>
                  <a:t> ,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Covariance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1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>
                            <a:latin typeface="Cambria Math" panose="02040503050406030204" pitchFamily="18" charset="0"/>
                          </a:rPr>
                          <m:t>Cov</m:t>
                        </m:r>
                      </m:fName>
                      <m:e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func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IN" sz="1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IN" sz="100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d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1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000" dirty="0"/>
              </a:p>
              <a:p>
                <a:pPr>
                  <a:lnSpc>
                    <a:spcPct val="150000"/>
                  </a:lnSpc>
                </a:pPr>
                <a:r>
                  <a:rPr lang="en-IN" sz="1000" u="sng" dirty="0">
                    <a:hlinkClick r:id="rId2"/>
                  </a:rPr>
                  <a:t>cor</a:t>
                </a:r>
                <a:r>
                  <a:rPr lang="en-IN" sz="1000" dirty="0"/>
                  <a:t>(x, method = "</a:t>
                </a:r>
                <a:r>
                  <a:rPr lang="en-IN" sz="1000" dirty="0" err="1"/>
                  <a:t>pearson</a:t>
                </a:r>
                <a:r>
                  <a:rPr lang="en-IN" sz="1000" dirty="0"/>
                  <a:t>")</a:t>
                </a:r>
                <a:r>
                  <a:rPr lang="en-IN" sz="1000" dirty="0">
                    <a:effectLst/>
                  </a:rPr>
                  <a:t>[1, 2], </a:t>
                </a:r>
                <a:r>
                  <a:rPr lang="en-IN" sz="1000" u="sng" dirty="0">
                    <a:hlinkClick r:id="rId2"/>
                  </a:rPr>
                  <a:t>cor</a:t>
                </a:r>
                <a:r>
                  <a:rPr lang="en-IN" sz="1000" dirty="0"/>
                  <a:t>(x, method = "</a:t>
                </a:r>
                <a:r>
                  <a:rPr lang="en-IN" sz="1000" dirty="0" err="1"/>
                  <a:t>kendall</a:t>
                </a:r>
                <a:r>
                  <a:rPr lang="en-IN" sz="1000" dirty="0"/>
                  <a:t>")</a:t>
                </a:r>
                <a:r>
                  <a:rPr lang="en-IN" sz="1000" dirty="0">
                    <a:effectLst/>
                  </a:rPr>
                  <a:t>[1, 2]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Law of total E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10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000">
                                <a:latin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IN" sz="1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1000" i="1" dirty="0"/>
              </a:p>
              <a:p>
                <a:pPr>
                  <a:lnSpc>
                    <a:spcPct val="150000"/>
                  </a:lnSpc>
                </a:pPr>
                <a:r>
                  <a:rPr lang="en-IN" sz="1000" b="1" dirty="0"/>
                  <a:t>Skewness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A" sz="1000" b="0" i="0" smtClean="0"/>
                      <m:t>S</m:t>
                    </m:r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00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IN" sz="1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supHide m:val="on"/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IN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IN" sz="1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IN" sz="10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1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10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en-IN" sz="1000"/>
                      <m:t>d</m:t>
                    </m:r>
                    <m:r>
                      <a:rPr lang="en-IN" sz="1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1000" dirty="0"/>
                  <a:t>, LS : mean &lt; median &lt; mode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sz="1000" b="1" dirty="0"/>
                  <a:t>Survival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𝑆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</m:e>
                    </m:d>
                    <m:r>
                      <a:rPr lang="en-IN" sz="1000" i="1"/>
                      <m:t>=</m:t>
                    </m:r>
                    <m:r>
                      <a:rPr lang="en-IN" sz="1000" i="1"/>
                      <m:t>𝑃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  <m:r>
                          <a:rPr lang="en-IN" sz="1000" i="1"/>
                          <m:t>&gt;</m:t>
                        </m:r>
                        <m:r>
                          <a:rPr lang="en-IN" sz="1000" i="1"/>
                          <m:t>𝑥</m:t>
                        </m:r>
                      </m:e>
                    </m:d>
                    <m:r>
                      <a:rPr lang="en-IN" sz="1000" i="1"/>
                      <m:t>=1−</m:t>
                    </m:r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𝐹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</m:e>
                    </m:d>
                  </m:oMath>
                </a14:m>
                <a:endParaRPr lang="en-IN" sz="1000" dirty="0"/>
              </a:p>
              <a:p>
                <a:r>
                  <a:rPr lang="en-IN" sz="1000" b="1" dirty="0" err="1"/>
                  <a:t>unif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𝑎</m:t>
                        </m:r>
                        <m:r>
                          <a:rPr lang="en-IN" sz="1000" i="1"/>
                          <m:t>,</m:t>
                        </m:r>
                        <m:r>
                          <a:rPr lang="en-IN" sz="1000" i="1"/>
                          <m:t>𝑏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1</m:t>
                        </m:r>
                      </m:num>
                      <m:den>
                        <m:r>
                          <a:rPr lang="en-IN" sz="1000" i="1"/>
                          <m:t>𝑏</m:t>
                        </m:r>
                        <m:r>
                          <a:rPr lang="en-IN" sz="1000" i="1"/>
                          <m:t>−</m:t>
                        </m:r>
                        <m:r>
                          <a:rPr lang="en-IN" sz="1000" i="1"/>
                          <m:t>𝑎</m:t>
                        </m:r>
                      </m:den>
                    </m:f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a:rPr lang="en-IN" sz="1000"/>
                      <m:t>𝔼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𝑎</m:t>
                        </m:r>
                        <m:r>
                          <a:rPr lang="en-IN" sz="1000" i="1"/>
                          <m:t>+</m:t>
                        </m:r>
                        <m:r>
                          <a:rPr lang="en-IN" sz="1000" i="1"/>
                          <m:t>𝑏</m:t>
                        </m:r>
                      </m:num>
                      <m:den>
                        <m:r>
                          <a:rPr lang="en-IN" sz="1000" i="1"/>
                          <m:t>2</m:t>
                        </m:r>
                      </m:den>
                    </m:f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sSup>
                          <m:sSupPr>
                            <m:ctrlPr>
                              <a:rPr lang="en-IN" sz="1000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1000" i="1"/>
                                </m:ctrlPr>
                              </m:dPr>
                              <m:e>
                                <m:r>
                                  <a:rPr lang="en-IN" sz="1000" i="1"/>
                                  <m:t>𝑏</m:t>
                                </m:r>
                                <m:r>
                                  <a:rPr lang="en-IN" sz="1000" i="1"/>
                                  <m:t>−</m:t>
                                </m:r>
                                <m:r>
                                  <a:rPr lang="en-IN" sz="1000" i="1"/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IN" sz="1000" i="1"/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1000" i="1"/>
                          <m:t>12</m:t>
                        </m:r>
                      </m:den>
                    </m:f>
                  </m:oMath>
                </a14:m>
                <a:endParaRPr lang="en-IN" sz="1000" dirty="0"/>
              </a:p>
              <a:p>
                <a:r>
                  <a:rPr lang="en-IN" sz="1000" b="1" dirty="0"/>
                  <a:t>norm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𝜇</m:t>
                        </m:r>
                        <m:r>
                          <a:rPr lang="en-IN" sz="1000" i="1"/>
                          <m:t>,</m:t>
                        </m:r>
                        <m:sSup>
                          <m:sSupPr>
                            <m:ctrlPr>
                              <a:rPr lang="en-IN" sz="1000" i="1"/>
                            </m:ctrlPr>
                          </m:sSupPr>
                          <m:e>
                            <m:r>
                              <a:rPr lang="en-IN" sz="1000" i="1"/>
                              <m:t>𝜎</m:t>
                            </m:r>
                          </m:e>
                          <m:sup>
                            <m:r>
                              <a:rPr lang="en-IN" sz="1000" i="1"/>
                              <m:t>2</m:t>
                            </m:r>
                          </m:sup>
                        </m:sSup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1000" i="1"/>
                            </m:ctrlPr>
                          </m:radPr>
                          <m:deg/>
                          <m:e>
                            <m:r>
                              <a:rPr lang="en-IN" sz="1000" i="1"/>
                              <m:t>2</m:t>
                            </m:r>
                            <m:r>
                              <a:rPr lang="en-IN" sz="1000" i="1"/>
                              <m:t>𝜋</m:t>
                            </m:r>
                            <m:sSup>
                              <m:sSupPr>
                                <m:ctrlPr>
                                  <a:rPr lang="en-IN" sz="1000" i="1"/>
                                </m:ctrlPr>
                              </m:sSupPr>
                              <m:e>
                                <m:r>
                                  <a:rPr lang="en-IN" sz="1000" i="1"/>
                                  <m:t>𝜎</m:t>
                                </m:r>
                              </m:e>
                              <m:sup>
                                <m:r>
                                  <a:rPr lang="en-IN" sz="1000" i="1"/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−</m:t>
                            </m:r>
                            <m:f>
                              <m:fPr>
                                <m:ctrlPr>
                                  <a:rPr lang="en-IN" sz="1000" i="1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sz="1000" i="1"/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sz="1000" i="1"/>
                                        </m:ctrlPr>
                                      </m:dPr>
                                      <m:e>
                                        <m:r>
                                          <a:rPr lang="en-IN" sz="1000" i="1"/>
                                          <m:t>𝑥</m:t>
                                        </m:r>
                                        <m:r>
                                          <a:rPr lang="en-IN" sz="1000" i="1"/>
                                          <m:t>−</m:t>
                                        </m:r>
                                        <m:r>
                                          <a:rPr lang="en-IN" sz="1000" i="1"/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 sz="1000" i="1"/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1000" i="1"/>
                                  <m:t>2</m:t>
                                </m:r>
                                <m:sSup>
                                  <m:sSupPr>
                                    <m:ctrlPr>
                                      <a:rPr lang="en-IN" sz="1000" i="1"/>
                                    </m:ctrlPr>
                                  </m:sSupPr>
                                  <m:e>
                                    <m:r>
                                      <a:rPr lang="en-IN" sz="1000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IN" sz="1000" i="1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IN" sz="1000" dirty="0">
                    <a:effectLst/>
                  </a:rPr>
                  <a:t> , </a:t>
                </a:r>
                <a14:m>
                  <m:oMath xmlns:m="http://schemas.openxmlformats.org/officeDocument/2006/math">
                    <m:r>
                      <a:rPr lang="en-IN" sz="1000"/>
                      <m:t>𝔼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r>
                      <a:rPr lang="en-IN" sz="1000" i="1"/>
                      <m:t>𝜇</m:t>
                    </m:r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sSup>
                      <m:sSupPr>
                        <m:ctrlPr>
                          <a:rPr lang="en-IN" sz="1000" i="1"/>
                        </m:ctrlPr>
                      </m:sSupPr>
                      <m:e>
                        <m:r>
                          <a:rPr lang="en-IN" sz="1000" i="1"/>
                          <m:t>𝜎</m:t>
                        </m:r>
                      </m:e>
                      <m:sup>
                        <m:r>
                          <a:rPr lang="en-IN" sz="1000" i="1"/>
                          <m:t>2</m:t>
                        </m:r>
                      </m:sup>
                    </m:sSup>
                  </m:oMath>
                </a14:m>
                <a:endParaRPr lang="en-IN" sz="1000" dirty="0"/>
              </a:p>
              <a:p>
                <a:r>
                  <a:rPr lang="en-IN" sz="1000" b="1" dirty="0" err="1"/>
                  <a:t>lnorm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𝜇</m:t>
                        </m:r>
                        <m:r>
                          <a:rPr lang="en-IN" sz="1000" i="1"/>
                          <m:t>,</m:t>
                        </m:r>
                        <m:sSup>
                          <m:sSupPr>
                            <m:ctrlPr>
                              <a:rPr lang="en-IN" sz="1000" i="1"/>
                            </m:ctrlPr>
                          </m:sSupPr>
                          <m:e>
                            <m:r>
                              <a:rPr lang="en-IN" sz="1000" i="1"/>
                              <m:t>𝜎</m:t>
                            </m:r>
                          </m:e>
                          <m:sup>
                            <m:r>
                              <a:rPr lang="en-IN" sz="1000" i="1"/>
                              <m:t>2</m:t>
                            </m:r>
                          </m:sup>
                        </m:sSup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1</m:t>
                        </m:r>
                      </m:num>
                      <m:den>
                        <m:r>
                          <a:rPr lang="en-IN" sz="1000" i="1"/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1000" i="1"/>
                            </m:ctrlPr>
                          </m:radPr>
                          <m:deg/>
                          <m:e>
                            <m:r>
                              <a:rPr lang="en-IN" sz="1000" i="1"/>
                              <m:t>2</m:t>
                            </m:r>
                            <m:r>
                              <a:rPr lang="en-IN" sz="1000" i="1"/>
                              <m:t>𝜋</m:t>
                            </m:r>
                            <m:sSup>
                              <m:sSupPr>
                                <m:ctrlPr>
                                  <a:rPr lang="en-IN" sz="1000" i="1"/>
                                </m:ctrlPr>
                              </m:sSupPr>
                              <m:e>
                                <m:r>
                                  <a:rPr lang="en-IN" sz="1000" i="1"/>
                                  <m:t>𝜎</m:t>
                                </m:r>
                              </m:e>
                              <m:sup>
                                <m:r>
                                  <a:rPr lang="en-IN" sz="1000" i="1"/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−</m:t>
                            </m:r>
                            <m:f>
                              <m:fPr>
                                <m:ctrlPr>
                                  <a:rPr lang="en-IN" sz="1000" i="1"/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sz="1000" i="1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IN" sz="1000" i="1"/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IN" sz="1000"/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1000"/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IN" sz="1000" i="1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IN" sz="1000" i="1"/>
                                                  <m:t>𝑥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IN" sz="1000" i="1"/>
                                          <m:t>−</m:t>
                                        </m:r>
                                        <m:r>
                                          <a:rPr lang="en-IN" sz="1000" i="1"/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 sz="1000" i="1"/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1000" i="1"/>
                                  <m:t>2</m:t>
                                </m:r>
                                <m:sSup>
                                  <m:sSupPr>
                                    <m:ctrlPr>
                                      <a:rPr lang="en-IN" sz="1000" i="1"/>
                                    </m:ctrlPr>
                                  </m:sSupPr>
                                  <m:e>
                                    <m:r>
                                      <a:rPr lang="en-IN" sz="1000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IN" sz="1000" i="1"/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IN" sz="1000" dirty="0">
                    <a:effectLst/>
                  </a:rPr>
                  <a:t> , </a:t>
                </a:r>
                <a14:m>
                  <m:oMath xmlns:m="http://schemas.openxmlformats.org/officeDocument/2006/math">
                    <m:r>
                      <a:rPr lang="en-IN" sz="1000"/>
                      <m:t>𝔼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𝜇</m:t>
                            </m:r>
                            <m:r>
                              <a:rPr lang="en-IN" sz="1000" i="1"/>
                              <m:t>+</m:t>
                            </m:r>
                            <m:d>
                              <m:dPr>
                                <m:ctrlPr>
                                  <a:rPr lang="en-IN" sz="1000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sz="1000" i="1"/>
                                    </m:ctrlPr>
                                  </m:sSupPr>
                                  <m:e>
                                    <m:r>
                                      <a:rPr lang="en-IN" sz="1000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IN" sz="1000" i="1"/>
                                      <m:t>2</m:t>
                                    </m:r>
                                  </m:sup>
                                </m:sSup>
                                <m:r>
                                  <a:rPr lang="en-IN" sz="1000" i="1"/>
                                  <m:t>/2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2</m:t>
                            </m:r>
                            <m:d>
                              <m:dPr>
                                <m:ctrlPr>
                                  <a:rPr lang="en-IN" sz="1000" i="1"/>
                                </m:ctrlPr>
                              </m:dPr>
                              <m:e>
                                <m:r>
                                  <a:rPr lang="en-IN" sz="1000" i="1"/>
                                  <m:t>𝜇</m:t>
                                </m:r>
                                <m:r>
                                  <a:rPr lang="en-IN" sz="1000" i="1"/>
                                  <m:t>+</m:t>
                                </m:r>
                                <m:sSup>
                                  <m:sSupPr>
                                    <m:ctrlPr>
                                      <a:rPr lang="en-IN" sz="1000" i="1"/>
                                    </m:ctrlPr>
                                  </m:sSupPr>
                                  <m:e>
                                    <m:r>
                                      <a:rPr lang="en-IN" sz="1000" i="1"/>
                                      <m:t>𝜎</m:t>
                                    </m:r>
                                  </m:e>
                                  <m:sup>
                                    <m:r>
                                      <a:rPr lang="en-IN" sz="1000" i="1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  <m:r>
                      <a:rPr lang="en-IN" sz="1000" i="1"/>
                      <m:t>−</m:t>
                    </m:r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2</m:t>
                            </m:r>
                            <m:r>
                              <a:rPr lang="en-IN" sz="1000" i="1"/>
                              <m:t>𝜇</m:t>
                            </m:r>
                            <m:r>
                              <a:rPr lang="en-IN" sz="1000" i="1"/>
                              <m:t>+</m:t>
                            </m:r>
                            <m:sSup>
                              <m:sSupPr>
                                <m:ctrlPr>
                                  <a:rPr lang="en-IN" sz="1000" i="1"/>
                                </m:ctrlPr>
                              </m:sSupPr>
                              <m:e>
                                <m:r>
                                  <a:rPr lang="en-IN" sz="1000" i="1"/>
                                  <m:t>𝜎</m:t>
                                </m:r>
                              </m:e>
                              <m:sup>
                                <m:r>
                                  <a:rPr lang="en-IN" sz="1000" i="1"/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IN" sz="1000" dirty="0"/>
              </a:p>
              <a:p>
                <a:r>
                  <a:rPr lang="en-IN" sz="1000" b="1" dirty="0"/>
                  <a:t>exp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𝜆</m:t>
                        </m:r>
                      </m:e>
                    </m:d>
                    <m:r>
                      <a:rPr lang="en-IN" sz="1000" i="1"/>
                      <m:t>=</m:t>
                    </m:r>
                    <m:r>
                      <a:rPr lang="en-IN" sz="1000" i="1"/>
                      <m:t>𝜆</m:t>
                    </m:r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−</m:t>
                            </m:r>
                            <m:r>
                              <a:rPr lang="en-IN" sz="1000" i="1"/>
                              <m:t>𝜆</m:t>
                            </m:r>
                            <m:r>
                              <a:rPr lang="en-IN" sz="1000" i="1"/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IN" sz="1000" dirty="0">
                    <a:effectLst/>
                  </a:rPr>
                  <a:t> , </a:t>
                </a:r>
                <a14:m>
                  <m:oMath xmlns:m="http://schemas.openxmlformats.org/officeDocument/2006/math">
                    <m:r>
                      <a:rPr lang="en-IN" sz="1000"/>
                      <m:t>𝔼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=1/</m:t>
                    </m:r>
                    <m:r>
                      <a:rPr lang="en-IN" sz="1000" i="1"/>
                      <m:t>𝜆</m:t>
                    </m:r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=1/</m:t>
                    </m:r>
                    <m:sSup>
                      <m:sSupPr>
                        <m:ctrlPr>
                          <a:rPr lang="en-IN" sz="1000" i="1"/>
                        </m:ctrlPr>
                      </m:sSupPr>
                      <m:e>
                        <m:r>
                          <a:rPr lang="en-IN" sz="1000" i="1"/>
                          <m:t>𝜆</m:t>
                        </m:r>
                      </m:e>
                      <m:sup>
                        <m:r>
                          <a:rPr lang="en-IN" sz="1000" i="1"/>
                          <m:t>2</m:t>
                        </m:r>
                      </m:sup>
                    </m:sSup>
                  </m:oMath>
                </a14:m>
                <a:endParaRPr lang="en-IN" sz="1000" dirty="0"/>
              </a:p>
              <a:p>
                <a:r>
                  <a:rPr lang="en-IN" sz="1000" b="1" dirty="0"/>
                  <a:t>beta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r>
                      <a:rPr lang="en-IN" sz="1000"/>
                      <m:t>𝔼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𝛼</m:t>
                        </m:r>
                      </m:num>
                      <m:den>
                        <m:r>
                          <a:rPr lang="en-IN" sz="1000" i="1"/>
                          <m:t>𝛼</m:t>
                        </m:r>
                        <m:r>
                          <a:rPr lang="en-IN" sz="1000" i="1"/>
                          <m:t>+</m:t>
                        </m:r>
                        <m:r>
                          <a:rPr lang="en-IN" sz="1000" i="1"/>
                          <m:t>𝛽</m:t>
                        </m:r>
                      </m:den>
                    </m:f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𝛼𝛽</m:t>
                        </m:r>
                      </m:num>
                      <m:den>
                        <m:sSup>
                          <m:sSupPr>
                            <m:ctrlPr>
                              <a:rPr lang="en-IN" sz="1000" i="1"/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1000" i="1"/>
                                </m:ctrlPr>
                              </m:dPr>
                              <m:e>
                                <m:r>
                                  <a:rPr lang="en-IN" sz="1000" i="1"/>
                                  <m:t>𝛼</m:t>
                                </m:r>
                                <m:r>
                                  <a:rPr lang="en-IN" sz="1000" i="1"/>
                                  <m:t>+</m:t>
                                </m:r>
                                <m:r>
                                  <a:rPr lang="en-IN" sz="1000" i="1"/>
                                  <m:t>𝛽</m:t>
                                </m:r>
                              </m:e>
                            </m:d>
                          </m:e>
                          <m:sup>
                            <m:r>
                              <a:rPr lang="en-IN" sz="1000" i="1"/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𝛼</m:t>
                            </m:r>
                            <m:r>
                              <a:rPr lang="en-IN" sz="1000" i="1"/>
                              <m:t>+</m:t>
                            </m:r>
                            <m:r>
                              <a:rPr lang="en-IN" sz="1000" i="1"/>
                              <m:t>𝛽</m:t>
                            </m:r>
                            <m:r>
                              <a:rPr lang="en-IN" sz="1000" i="1"/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en-IN" sz="1000" dirty="0"/>
              </a:p>
              <a:p>
                <a:r>
                  <a:rPr lang="en-IN" sz="1000" b="1" dirty="0" err="1"/>
                  <a:t>weibull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𝜆</m:t>
                        </m:r>
                        <m:r>
                          <a:rPr lang="en-IN" sz="1000" i="1"/>
                          <m:t>,</m:t>
                        </m:r>
                        <m:r>
                          <a:rPr lang="en-IN" sz="1000" i="1"/>
                          <m:t>𝑘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𝑘</m:t>
                        </m:r>
                      </m:num>
                      <m:den>
                        <m:r>
                          <a:rPr lang="en-IN" sz="1000" i="1"/>
                          <m:t>𝜆</m:t>
                        </m:r>
                      </m:den>
                    </m:f>
                    <m:sSup>
                      <m:sSupPr>
                        <m:ctrlPr>
                          <a:rPr lang="en-IN" sz="1000" i="1"/>
                        </m:ctrlPr>
                      </m:sSupPr>
                      <m:e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1000" i="1"/>
                                </m:ctrlPr>
                              </m:fPr>
                              <m:num>
                                <m:r>
                                  <a:rPr lang="en-IN" sz="1000" i="1"/>
                                  <m:t>𝑥</m:t>
                                </m:r>
                              </m:num>
                              <m:den>
                                <m:r>
                                  <a:rPr lang="en-IN" sz="1000" i="1"/>
                                  <m:t>𝜆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1000" i="1"/>
                          <m:t>𝑘</m:t>
                        </m:r>
                        <m:r>
                          <a:rPr lang="en-IN" sz="1000" i="1"/>
                          <m:t>−1</m:t>
                        </m:r>
                      </m:sup>
                    </m:sSup>
                    <m:func>
                      <m:funcPr>
                        <m:ctrlPr>
                          <a:rPr lang="en-IN" sz="1000" i="1"/>
                        </m:ctrlPr>
                      </m:funcPr>
                      <m:fName>
                        <m:sSup>
                          <m:sSupPr>
                            <m:ctrlPr>
                              <a:rPr lang="en-IN" sz="1000"/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1000"/>
                              <m:t>exp</m:t>
                            </m:r>
                          </m:e>
                          <m:sup>
                            <m:r>
                              <a:rPr lang="en-IN" sz="1000" i="1"/>
                              <m:t>−</m:t>
                            </m:r>
                            <m:sSup>
                              <m:sSupPr>
                                <m:ctrlPr>
                                  <a:rPr lang="en-IN" sz="1000" i="1"/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sz="1000" i="1"/>
                                    </m:ctrlPr>
                                  </m:dPr>
                                  <m:e>
                                    <m:r>
                                      <a:rPr lang="en-IN" sz="1000" i="1"/>
                                      <m:t>𝑥</m:t>
                                    </m:r>
                                    <m:r>
                                      <a:rPr lang="en-IN" sz="1000" i="1"/>
                                      <m:t>/</m:t>
                                    </m:r>
                                    <m:r>
                                      <a:rPr lang="en-IN" sz="1000" i="1"/>
                                      <m:t>𝜆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1000" i="1"/>
                                  <m:t>𝑘</m:t>
                                </m:r>
                              </m:sup>
                            </m:sSup>
                          </m:sup>
                        </m:sSup>
                      </m:fName>
                      <m:e/>
                    </m:func>
                  </m:oMath>
                </a14:m>
                <a:endParaRPr lang="en-CA" sz="1000" dirty="0"/>
              </a:p>
              <a:p>
                <a:r>
                  <a:rPr lang="en-IN" sz="1000" b="1" dirty="0"/>
                  <a:t>gamma</a:t>
                </a:r>
                <a:r>
                  <a:rPr lang="en-IN" sz="1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𝑘</m:t>
                        </m:r>
                        <m:r>
                          <a:rPr lang="en-IN" sz="1000" i="1"/>
                          <m:t>,</m:t>
                        </m:r>
                        <m:r>
                          <a:rPr lang="en-IN" sz="1000" i="1"/>
                          <m:t>𝜃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r>
                          <a:rPr lang="en-IN" sz="1000" i="1"/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1000"/>
                          <m:t>Γ</m:t>
                        </m:r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𝑘</m:t>
                            </m:r>
                          </m:e>
                        </m:d>
                        <m:sSup>
                          <m:sSupPr>
                            <m:ctrlPr>
                              <a:rPr lang="en-IN" sz="1000" i="1"/>
                            </m:ctrlPr>
                          </m:sSupPr>
                          <m:e>
                            <m:r>
                              <a:rPr lang="en-IN" sz="1000" i="1"/>
                              <m:t>𝜃</m:t>
                            </m:r>
                          </m:e>
                          <m:sup>
                            <m:r>
                              <a:rPr lang="en-IN" sz="1000" i="1"/>
                              <m:t>𝑘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IN" sz="1000" i="1"/>
                        </m:ctrlPr>
                      </m:sSupPr>
                      <m:e>
                        <m:r>
                          <a:rPr lang="en-IN" sz="1000" i="1"/>
                          <m:t>𝑥</m:t>
                        </m:r>
                      </m:e>
                      <m:sup>
                        <m:r>
                          <a:rPr lang="en-IN" sz="1000" i="1"/>
                          <m:t>𝑘</m:t>
                        </m:r>
                        <m:r>
                          <a:rPr lang="en-IN" sz="1000" i="1"/>
                          <m:t>−1</m:t>
                        </m:r>
                      </m:sup>
                    </m:sSup>
                    <m:func>
                      <m:funcPr>
                        <m:ctrlPr>
                          <a:rPr lang="en-IN" sz="1000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1000"/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−</m:t>
                            </m:r>
                            <m:r>
                              <a:rPr lang="en-IN" sz="1000" i="1"/>
                              <m:t>𝑥</m:t>
                            </m:r>
                            <m:r>
                              <a:rPr lang="en-IN" sz="1000" i="1"/>
                              <m:t>/</m:t>
                            </m:r>
                            <m:r>
                              <a:rPr lang="en-IN" sz="1000" i="1"/>
                              <m:t>𝜃</m:t>
                            </m:r>
                          </m:e>
                        </m:d>
                      </m:e>
                    </m:func>
                  </m:oMath>
                </a14:m>
                <a:r>
                  <a:rPr lang="en-IN" sz="1000" dirty="0">
                    <a:effectLst/>
                  </a:rPr>
                  <a:t> , </a:t>
                </a:r>
                <a14:m>
                  <m:oMath xmlns:m="http://schemas.openxmlformats.org/officeDocument/2006/math">
                    <m:r>
                      <a:rPr lang="en-IN" sz="1000"/>
                      <m:t>𝔼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r>
                      <a:rPr lang="en-IN" sz="1000" i="1"/>
                      <m:t>𝑘</m:t>
                    </m:r>
                    <m:r>
                      <a:rPr lang="en-IN" sz="1000" i="1"/>
                      <m:t>𝜃</m:t>
                    </m:r>
                  </m:oMath>
                </a14:m>
                <a:r>
                  <a:rPr lang="en-IN" sz="1000" dirty="0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000"/>
                      <m:t>Var</m:t>
                    </m:r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𝑋</m:t>
                        </m:r>
                      </m:e>
                    </m:d>
                    <m:r>
                      <a:rPr lang="en-IN" sz="1000" i="1"/>
                      <m:t>=</m:t>
                    </m:r>
                    <m:r>
                      <a:rPr lang="en-IN" sz="1000" i="1"/>
                      <m:t>𝑘</m:t>
                    </m:r>
                    <m:sSup>
                      <m:sSupPr>
                        <m:ctrlPr>
                          <a:rPr lang="en-IN" sz="1000" i="1"/>
                        </m:ctrlPr>
                      </m:sSupPr>
                      <m:e>
                        <m:r>
                          <a:rPr lang="en-IN" sz="1000" i="1"/>
                          <m:t>𝜃</m:t>
                        </m:r>
                      </m:e>
                      <m:sup>
                        <m:r>
                          <a:rPr lang="en-IN" sz="1000" i="1"/>
                          <m:t>2</m:t>
                        </m:r>
                      </m:sup>
                    </m:sSup>
                  </m:oMath>
                </a14:m>
                <a:endParaRPr lang="en-IN" sz="1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000" b="1" dirty="0"/>
                  <a:t>Gamma is </a:t>
                </a:r>
                <a14:m>
                  <m:oMath xmlns:m="http://schemas.openxmlformats.org/officeDocument/2006/math">
                    <m:r>
                      <a:rPr lang="en-IN" sz="1000" b="1" i="1"/>
                      <m:t>𝒌</m:t>
                    </m:r>
                  </m:oMath>
                </a14:m>
                <a:r>
                  <a:rPr lang="en-IN" sz="1000" b="1" dirty="0"/>
                  <a:t> wait times until the event has happened</a:t>
                </a:r>
                <a:endParaRPr lang="en-IN" sz="10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000" dirty="0"/>
                  <a:t>In Weibull k dictates </a:t>
                </a:r>
                <a:r>
                  <a:rPr lang="en-IN" sz="1000" b="1" dirty="0"/>
                  <a:t>the probability of an event after a certain time period has passed. It is not memoryless. </a:t>
                </a:r>
                <a:r>
                  <a:rPr lang="en-IN" sz="1000" dirty="0"/>
                  <a:t>If </a:t>
                </a:r>
                <a14:m>
                  <m:oMath xmlns:m="http://schemas.openxmlformats.org/officeDocument/2006/math">
                    <m:r>
                      <a:rPr lang="en-IN" sz="1000" i="1"/>
                      <m:t>𝑘</m:t>
                    </m:r>
                    <m:r>
                      <a:rPr lang="en-IN" sz="1000" i="1"/>
                      <m:t> &gt; 1</m:t>
                    </m:r>
                  </m:oMath>
                </a14:m>
                <a:r>
                  <a:rPr lang="en-IN" sz="1000" dirty="0"/>
                  <a:t> then the event is more likely to occur as more time passes. </a:t>
                </a:r>
              </a:p>
              <a:p>
                <a:pPr>
                  <a:lnSpc>
                    <a:spcPct val="100000"/>
                  </a:lnSpc>
                </a:pPr>
                <a:r>
                  <a:rPr lang="en-IN" sz="1000" dirty="0"/>
                  <a:t>Conditional Distribution on Continuous Random variable</a:t>
                </a:r>
              </a:p>
              <a:p>
                <a:pPr marL="171450" indent="-17145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IN" sz="1000" dirty="0"/>
                  <a:t>P(A) 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𝑋</m:t>
                        </m:r>
                        <m:r>
                          <a:rPr lang="en-IN" sz="1000" i="1"/>
                          <m:t>∣</m:t>
                        </m:r>
                        <m:r>
                          <a:rPr lang="en-IN" sz="1000" i="1"/>
                          <m:t>𝑋</m:t>
                        </m:r>
                        <m:r>
                          <a:rPr lang="en-IN" sz="1000" i="1"/>
                          <m:t>≥2500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𝑥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sSub>
                          <m:sSubPr>
                            <m:ctrlPr>
                              <a:rPr lang="en-IN" sz="1000" i="1"/>
                            </m:ctrlPr>
                          </m:sSubPr>
                          <m:e>
                            <m:r>
                              <a:rPr lang="en-IN" sz="1000" i="1"/>
                              <m:t>𝑓</m:t>
                            </m:r>
                          </m:e>
                          <m:sub>
                            <m:r>
                              <a:rPr lang="en-IN" sz="1000" i="1"/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IN" sz="1000" i="1"/>
                          <m:t>𝑃</m:t>
                        </m:r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𝑋</m:t>
                            </m:r>
                            <m:r>
                              <a:rPr lang="en-IN" sz="1000" i="1"/>
                              <m:t>≥2500</m:t>
                            </m:r>
                          </m:e>
                        </m:d>
                      </m:den>
                    </m:f>
                  </m:oMath>
                </a14:m>
                <a:r>
                  <a:rPr lang="en-IN" sz="1000" dirty="0">
                    <a:effectLst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000" dirty="0"/>
                  <a:t>P(B) =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000" i="1"/>
                        </m:ctrlPr>
                      </m:sSubPr>
                      <m:e>
                        <m:r>
                          <a:rPr lang="en-IN" sz="1000" i="1"/>
                          <m:t>𝑓</m:t>
                        </m:r>
                      </m:e>
                      <m:sub>
                        <m:r>
                          <a:rPr lang="en-IN" sz="1000" i="1"/>
                          <m:t>𝑌</m:t>
                        </m:r>
                        <m:r>
                          <a:rPr lang="en-IN" sz="1000" i="1"/>
                          <m:t>|</m:t>
                        </m:r>
                        <m:r>
                          <a:rPr lang="en-IN" sz="1000" i="1"/>
                          <m:t>𝑋</m:t>
                        </m:r>
                      </m:sub>
                    </m:sSub>
                    <m:d>
                      <m:dPr>
                        <m:ctrlPr>
                          <a:rPr lang="en-IN" sz="1000" i="1"/>
                        </m:ctrlPr>
                      </m:dPr>
                      <m:e>
                        <m:r>
                          <a:rPr lang="en-IN" sz="1000" i="1"/>
                          <m:t>𝑦</m:t>
                        </m:r>
                      </m:e>
                    </m:d>
                    <m:r>
                      <a:rPr lang="en-IN" sz="1000" i="1"/>
                      <m:t>=</m:t>
                    </m:r>
                    <m:f>
                      <m:fPr>
                        <m:ctrlPr>
                          <a:rPr lang="en-IN" sz="1000" i="1"/>
                        </m:ctrlPr>
                      </m:fPr>
                      <m:num>
                        <m:sSub>
                          <m:sSubPr>
                            <m:ctrlPr>
                              <a:rPr lang="en-IN" sz="1000" i="1"/>
                            </m:ctrlPr>
                          </m:sSubPr>
                          <m:e>
                            <m:r>
                              <a:rPr lang="en-IN" sz="1000" i="1"/>
                              <m:t>𝑓</m:t>
                            </m:r>
                          </m:e>
                          <m:sub>
                            <m:r>
                              <a:rPr lang="en-IN" sz="1000" i="1"/>
                              <m:t>𝑌</m:t>
                            </m:r>
                            <m:r>
                              <a:rPr lang="en-IN" sz="1000" i="1"/>
                              <m:t>,</m:t>
                            </m:r>
                            <m:r>
                              <a:rPr lang="en-IN" sz="1000" i="1"/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𝑦</m:t>
                            </m:r>
                            <m:r>
                              <a:rPr lang="en-IN" sz="1000" i="1"/>
                              <m:t>,</m:t>
                            </m:r>
                            <m:r>
                              <a:rPr lang="en-IN" sz="1000" i="1"/>
                              <m:t>𝑥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sz="1000" i="1"/>
                            </m:ctrlPr>
                          </m:sSubPr>
                          <m:e>
                            <m:r>
                              <a:rPr lang="en-IN" sz="1000" i="1"/>
                              <m:t>𝑓</m:t>
                            </m:r>
                          </m:e>
                          <m:sub>
                            <m:r>
                              <a:rPr lang="en-IN" sz="1000" i="1"/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IN" sz="1000" i="1"/>
                            </m:ctrlPr>
                          </m:dPr>
                          <m:e>
                            <m:r>
                              <a:rPr lang="en-IN" sz="1000" i="1"/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IN" sz="1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ED1C17-3424-E091-A55C-6DC284291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5892800" cy="6745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7534058-C665-00D8-DCDF-BA5EF0BEBE42}"/>
              </a:ext>
            </a:extLst>
          </p:cNvPr>
          <p:cNvSpPr txBox="1"/>
          <p:nvPr/>
        </p:nvSpPr>
        <p:spPr>
          <a:xfrm>
            <a:off x="5892800" y="0"/>
            <a:ext cx="6299200" cy="4455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000" b="1" dirty="0"/>
              <a:t>MLE Steps: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000" dirty="0"/>
              <a:t>Choose your fighter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000" dirty="0"/>
              <a:t>Estimate likelihood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000" dirty="0"/>
              <a:t>Perform log-likelihood transformation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000" dirty="0"/>
              <a:t>Partially differentiate with respect to the parameter of interest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000" dirty="0"/>
              <a:t>Make it equal to zero and estimate the parameter of interest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000" dirty="0"/>
              <a:t>Make sure that it is local maximum by double differentiating the log-likelihood and checking if the value is negative.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000" dirty="0"/>
              <a:t>For empirical estimates of parameter of interest, we choose a range of values for parameter and see which value corresponds to the maximum log-likelihood value.</a:t>
            </a:r>
          </a:p>
          <a:p>
            <a:pPr>
              <a:lnSpc>
                <a:spcPct val="150000"/>
              </a:lnSpc>
            </a:pPr>
            <a:r>
              <a:rPr lang="en-IN" sz="1000" b="1" dirty="0"/>
              <a:t>Create Sequence in R</a:t>
            </a:r>
            <a:r>
              <a:rPr lang="en-IN" sz="1000" dirty="0"/>
              <a:t>: </a:t>
            </a:r>
            <a:r>
              <a:rPr lang="en-IN" sz="1000" dirty="0" err="1"/>
              <a:t>possible_betas</a:t>
            </a:r>
            <a:r>
              <a:rPr lang="en-IN" sz="1000" dirty="0"/>
              <a:t> = </a:t>
            </a:r>
            <a:r>
              <a:rPr lang="en-IN" sz="1000" u="sng" dirty="0">
                <a:hlinkClick r:id="rId4"/>
              </a:rPr>
              <a:t>seq</a:t>
            </a:r>
            <a:r>
              <a:rPr lang="en-IN" sz="1000" dirty="0"/>
              <a:t>(5, 50, 0.5)</a:t>
            </a:r>
          </a:p>
          <a:p>
            <a:pPr>
              <a:lnSpc>
                <a:spcPct val="150000"/>
              </a:lnSpc>
            </a:pPr>
            <a:r>
              <a:rPr lang="en-IN" sz="1000" b="1" dirty="0"/>
              <a:t>To apply log-likelihood</a:t>
            </a:r>
            <a:r>
              <a:rPr lang="en-IN" sz="1000" dirty="0"/>
              <a:t>: </a:t>
            </a:r>
            <a:r>
              <a:rPr lang="en-IN" sz="1000" dirty="0" err="1"/>
              <a:t>log_likelihood</a:t>
            </a:r>
            <a:r>
              <a:rPr lang="en-IN" sz="1000" dirty="0"/>
              <a:t> = </a:t>
            </a:r>
            <a:r>
              <a:rPr lang="en-IN" sz="1000" dirty="0" err="1"/>
              <a:t>map_dbl</a:t>
            </a:r>
            <a:r>
              <a:rPr lang="en-IN" sz="1000" dirty="0"/>
              <a:t>(1 / </a:t>
            </a:r>
            <a:r>
              <a:rPr lang="en-IN" sz="1000" dirty="0" err="1"/>
              <a:t>possible_betas</a:t>
            </a:r>
            <a:r>
              <a:rPr lang="en-IN" sz="1000" dirty="0"/>
              <a:t>, ~ </a:t>
            </a:r>
            <a:r>
              <a:rPr lang="en-IN" sz="1000" u="sng" dirty="0">
                <a:hlinkClick r:id="rId5"/>
              </a:rPr>
              <a:t>log(prod(dexp(sample_n30$values, .)))) </a:t>
            </a:r>
            <a:endParaRPr lang="en-IN" sz="1000" dirty="0"/>
          </a:p>
          <a:p>
            <a:pPr>
              <a:lnSpc>
                <a:spcPct val="150000"/>
              </a:lnSpc>
            </a:pPr>
            <a:r>
              <a:rPr lang="en-IN" sz="1000" b="1" dirty="0"/>
              <a:t>Discrete Sampling</a:t>
            </a:r>
            <a:endParaRPr lang="en-IN" sz="1000" dirty="0"/>
          </a:p>
          <a:p>
            <a:pPr>
              <a:lnSpc>
                <a:spcPct val="150000"/>
              </a:lnSpc>
            </a:pPr>
            <a:r>
              <a:rPr lang="en-IN" sz="1000" dirty="0"/>
              <a:t>To sample from Discrete distribution, we use sample() function in R.</a:t>
            </a:r>
          </a:p>
          <a:p>
            <a:r>
              <a:rPr lang="en-IN" sz="1000" dirty="0" err="1"/>
              <a:t>set.seed</a:t>
            </a:r>
            <a:r>
              <a:rPr lang="en-IN" sz="1000" dirty="0"/>
              <a:t>(551)</a:t>
            </a:r>
          </a:p>
          <a:p>
            <a:r>
              <a:rPr lang="en-IN" sz="1000" dirty="0"/>
              <a:t>outcomes &lt;- c("banana", "bob-</a:t>
            </a:r>
            <a:r>
              <a:rPr lang="en-IN" sz="1000" dirty="0" err="1"/>
              <a:t>omb</a:t>
            </a:r>
            <a:r>
              <a:rPr lang="en-IN" sz="1000" dirty="0"/>
              <a:t>", "coin", "horn", "shell")</a:t>
            </a:r>
          </a:p>
          <a:p>
            <a:r>
              <a:rPr lang="en-IN" sz="1000" dirty="0"/>
              <a:t>probs &lt;- c(0.12, 0.05, 0.75, 0.03, 0.05)</a:t>
            </a:r>
          </a:p>
          <a:p>
            <a:r>
              <a:rPr lang="en-IN" sz="1000" dirty="0"/>
              <a:t>n &lt;- 10</a:t>
            </a:r>
          </a:p>
          <a:p>
            <a:r>
              <a:rPr lang="en-IN" sz="1000" dirty="0" err="1"/>
              <a:t>R_mario_sample</a:t>
            </a:r>
            <a:r>
              <a:rPr lang="en-IN" sz="1000" dirty="0"/>
              <a:t> &lt;- sample(outcomes, size = n, replace = TRUE, prob = probs)</a:t>
            </a:r>
          </a:p>
          <a:p>
            <a:r>
              <a:rPr lang="en-IN" sz="1000" dirty="0" err="1"/>
              <a:t>R_mario_sample</a:t>
            </a:r>
            <a:endParaRPr lang="en-IN" sz="1000" dirty="0"/>
          </a:p>
          <a:p>
            <a:pPr>
              <a:lnSpc>
                <a:spcPct val="150000"/>
              </a:lnSpc>
            </a:pPr>
            <a:r>
              <a:rPr lang="en-IN" sz="1000" b="1" dirty="0"/>
              <a:t>Empirical Codes: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mean(), var(), </a:t>
            </a:r>
            <a:r>
              <a:rPr lang="en-IN" sz="1000" dirty="0" err="1"/>
              <a:t>sd</a:t>
            </a:r>
            <a:r>
              <a:rPr lang="en-IN" sz="1000" dirty="0"/>
              <a:t>(), quantile()</a:t>
            </a:r>
          </a:p>
          <a:p>
            <a:pPr>
              <a:lnSpc>
                <a:spcPct val="150000"/>
              </a:lnSpc>
            </a:pPr>
            <a:endParaRPr lang="en-IN" sz="1000" dirty="0"/>
          </a:p>
          <a:p>
            <a:pPr>
              <a:lnSpc>
                <a:spcPct val="150000"/>
              </a:lnSpc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18551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648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kshitij agarwal</dc:creator>
  <cp:lastModifiedBy>kshitij agarwal</cp:lastModifiedBy>
  <cp:revision>6</cp:revision>
  <dcterms:created xsi:type="dcterms:W3CDTF">2026-09-27T07:07:28Z</dcterms:created>
  <dcterms:modified xsi:type="dcterms:W3CDTF">2026-09-27T19:49:52Z</dcterms:modified>
</cp:coreProperties>
</file>