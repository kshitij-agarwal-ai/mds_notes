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660"/>
  </p:normalViewPr>
  <p:slideViewPr>
    <p:cSldViewPr snapToGrid="0">
      <p:cViewPr varScale="1">
        <p:scale>
          <a:sx n="114" d="100"/>
          <a:sy n="114" d="100"/>
        </p:scale>
        <p:origin x="2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8CEBB-9FC7-AD43-FAF5-4C7D55F9EC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B8C1EF-336F-E381-0F75-B717BE8928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435DD-150F-CC9D-70D7-FB0575094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56471-47A5-5E44-9804-FD0E2A95F24B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8D6D30-A8AD-AF79-DEB8-13027D913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EFB71-00A8-DC70-D556-963E679CB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FFCA3-2A7D-534F-92AA-97EFE6EED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594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B2658-FE5E-B356-A35B-28B09C870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30FCEA-EF4F-9596-340F-3B8426590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8A1F5-6194-2689-6CBA-B598FB2DA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56471-47A5-5E44-9804-FD0E2A95F24B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88C5A9-4DFD-4608-F606-CC0A537B6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F45CB-C65E-AA44-668B-488F2FBBE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FFCA3-2A7D-534F-92AA-97EFE6EED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080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E8B82-89E9-2098-0E1D-8D6C8229E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0CE6D9-161D-A2C1-19E2-ABA2405D9C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DD660-5766-7334-2451-AEED79E39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56471-47A5-5E44-9804-FD0E2A95F24B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3341AA-AAEC-7505-ECC6-BBF731E3A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CA6D7A-B55F-E89E-D57B-2FB7FA2AF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FFCA3-2A7D-534F-92AA-97EFE6EED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580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58C74-C65C-A2D9-6036-64FC9F034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C6B02-DA1C-3E7A-36C2-A1CA416AF8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BA5CF3-8324-1D6C-2B49-1D9A8DECE1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86756B-5F12-FA50-AA4C-8DF4F132B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56471-47A5-5E44-9804-FD0E2A95F24B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F320C-9CA3-B1BD-2430-E8E5238BD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D4236-BBCA-DE21-A5EB-0CEBFA78D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FFCA3-2A7D-534F-92AA-97EFE6EED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066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79BB3-39B8-9744-FAF4-FCECAB531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068305-3032-B011-03CA-B72DC1F9A8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A471FF-F903-31C0-E213-5BB82AB281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8C4855-F30A-25DA-FF03-4F7CAC9153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1995B0-0454-40D0-9082-15A4E13221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3EBD95-D1FD-6C72-BFA4-A56928EEC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56471-47A5-5E44-9804-FD0E2A95F24B}" type="datetimeFigureOut">
              <a:rPr lang="en-US" smtClean="0"/>
              <a:t>9/27/26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6B91A4-0D3A-9571-2187-0425BAC79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E0BD61-8A24-3B29-3EE2-20DA2708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FFCA3-2A7D-534F-92AA-97EFE6EED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815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49D6A-4B60-B6EB-350E-010068D8F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13279C-6827-ACB5-3E7F-9896DE21E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56471-47A5-5E44-9804-FD0E2A95F24B}" type="datetimeFigureOut">
              <a:rPr lang="en-US" smtClean="0"/>
              <a:t>9/27/26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2DA69-56BE-6ECF-1CB2-F4F57CEB5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F2C86-97E1-78DD-3296-26518B15C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FFCA3-2A7D-534F-92AA-97EFE6EED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378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2D767D-0BD3-DEC2-37DD-D52B0DE63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56471-47A5-5E44-9804-FD0E2A95F24B}" type="datetimeFigureOut">
              <a:rPr lang="en-US" smtClean="0"/>
              <a:t>9/27/26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272A17-A79A-09A3-A865-5048A4317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D7589-43DE-67E2-CD65-3E2EC30A5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FFCA3-2A7D-534F-92AA-97EFE6EED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00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4BF5B-A4B2-6EC9-37FE-54236D78A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852F4-954D-58B6-3521-1A482A334D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85B351-7D16-EA31-D72C-E25EA0147E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35BE72-48DF-DCE1-DEDE-FC5C3CFB5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56471-47A5-5E44-9804-FD0E2A95F24B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CEADA5-1BD0-2835-11BC-2B08D3B1A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3B2CB-D224-5BDF-3302-BE954C1F2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FFCA3-2A7D-534F-92AA-97EFE6EED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978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39078-7E9A-6602-AAAA-77614F1BB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9C6972-F372-5BFA-71A4-EACA42788D7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ADB51-1577-57BA-24DE-524A5008C9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4D646-CE9A-B19C-E3E5-8C0EECC47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56471-47A5-5E44-9804-FD0E2A95F24B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D17A47-AC80-0ED5-A3B5-71A2B26C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D0927A-9041-3F3A-9E63-51244894A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FFCA3-2A7D-534F-92AA-97EFE6EED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382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2EA4F-C081-E44C-8DF3-4AC60CF3D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95888B-CC75-C050-1F45-608B5F404F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D68AA-EF7E-5658-C300-5379506E4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56471-47A5-5E44-9804-FD0E2A95F24B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EB816-8F02-286C-67C1-789C8B4D7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32DE3-D2A9-5243-A658-EC339BBCC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FFCA3-2A7D-534F-92AA-97EFE6EED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945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50DECE-CB90-50DB-6518-531BBC4968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845320-45D9-EA7E-1F56-A43280AA06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33C78-B0EB-43DE-23B1-EB63512E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56471-47A5-5E44-9804-FD0E2A95F24B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F249E-8312-B61D-6CA1-6C3F8FA33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AC60D-2AE0-B634-19BC-591DFA3DA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FFCA3-2A7D-534F-92AA-97EFE6EED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351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A25189-72EE-E8BF-7F8A-D1D20DCA8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98765B-7641-EC6D-0045-BB8A296437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C2DA2-07A9-91A7-880D-C865EA5498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A56471-47A5-5E44-9804-FD0E2A95F24B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3F55AD-1DCD-15F1-BDB0-138DB2664D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EFE10-33F8-8B0F-CE80-E780ED7961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2FFCA3-2A7D-534F-92AA-97EFE6EED8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534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rdrr.io/r/stats/cor.html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ED1C17-3424-E091-A55C-6DC284291956}"/>
                  </a:ext>
                </a:extLst>
              </p:cNvPr>
              <p:cNvSpPr txBox="1"/>
              <p:nvPr/>
            </p:nvSpPr>
            <p:spPr>
              <a:xfrm>
                <a:off x="0" y="0"/>
                <a:ext cx="11285034" cy="3926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IN" sz="1000" b="1" dirty="0"/>
                  <a:t>Odds</a:t>
                </a:r>
                <a:r>
                  <a:rPr lang="en-IN" sz="1000" dirty="0"/>
                  <a:t>: </a:t>
                </a:r>
                <a14:m>
                  <m:oMath xmlns:m="http://schemas.openxmlformats.org/officeDocument/2006/math">
                    <m:r>
                      <a:rPr lang="en-IN" sz="1000" i="1"/>
                      <m:t>𝑜</m:t>
                    </m:r>
                    <m:r>
                      <a:rPr lang="en-IN" sz="1000" i="1"/>
                      <m:t>=</m:t>
                    </m:r>
                    <m:f>
                      <m:fPr>
                        <m:ctrlPr>
                          <a:rPr lang="en-IN" sz="1000" i="1"/>
                        </m:ctrlPr>
                      </m:fPr>
                      <m:num>
                        <m:r>
                          <a:rPr lang="en-IN" sz="1000" i="1"/>
                          <m:t>𝑝</m:t>
                        </m:r>
                      </m:num>
                      <m:den>
                        <m:r>
                          <a:rPr lang="en-IN" sz="1000" i="1"/>
                          <m:t>1−</m:t>
                        </m:r>
                        <m:r>
                          <a:rPr lang="en-IN" sz="1000" i="1"/>
                          <m:t>𝑝</m:t>
                        </m:r>
                      </m:den>
                    </m:f>
                  </m:oMath>
                </a14:m>
                <a:endParaRPr lang="en-IN" sz="1000" dirty="0"/>
              </a:p>
              <a:p>
                <a:pPr>
                  <a:lnSpc>
                    <a:spcPct val="150000"/>
                  </a:lnSpc>
                </a:pPr>
                <a:r>
                  <a:rPr lang="en-IN" sz="1000" b="1" dirty="0"/>
                  <a:t>Entropy</a:t>
                </a:r>
                <a:r>
                  <a:rPr lang="en-IN" sz="1000" dirty="0"/>
                  <a:t>: </a:t>
                </a:r>
                <a14:m>
                  <m:oMath xmlns:m="http://schemas.openxmlformats.org/officeDocument/2006/math">
                    <m:r>
                      <a:rPr lang="en-IN" sz="1000" i="1"/>
                      <m:t>𝐻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</m:e>
                    </m:d>
                    <m:r>
                      <a:rPr lang="en-IN" sz="1000" i="1"/>
                      <m:t>=−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IN" sz="1000" i="1"/>
                        </m:ctrlPr>
                      </m:naryPr>
                      <m:sub>
                        <m:r>
                          <a:rPr lang="en-IN" sz="1000" i="1"/>
                          <m:t>𝑥</m:t>
                        </m:r>
                      </m:sub>
                      <m:sup/>
                      <m:e>
                        <m:r>
                          <a:rPr lang="en-IN" sz="1000" i="1"/>
                          <m:t>𝑃</m:t>
                        </m:r>
                      </m:e>
                    </m:nary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  <m:r>
                          <a:rPr lang="en-IN" sz="1000" i="1"/>
                          <m:t>=</m:t>
                        </m:r>
                        <m:r>
                          <a:rPr lang="en-IN" sz="1000" i="1"/>
                          <m:t>𝑥</m:t>
                        </m:r>
                      </m:e>
                    </m:d>
                    <m:func>
                      <m:funcPr>
                        <m:ctrlPr>
                          <a:rPr lang="en-IN" sz="1000"/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IN" sz="1000"/>
                          <m:t>log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IN" sz="1000" i="1"/>
                            </m:ctrlPr>
                          </m:dPr>
                          <m:e>
                            <m:r>
                              <a:rPr lang="en-IN" sz="1000" i="1"/>
                              <m:t>𝑃</m:t>
                            </m:r>
                            <m:d>
                              <m:dPr>
                                <m:ctrlPr>
                                  <a:rPr lang="en-IN" sz="1000" i="1"/>
                                </m:ctrlPr>
                              </m:dPr>
                              <m:e>
                                <m:r>
                                  <a:rPr lang="en-IN" sz="1000" i="1"/>
                                  <m:t>𝑋</m:t>
                                </m:r>
                                <m:r>
                                  <a:rPr lang="en-IN" sz="1000" i="1"/>
                                  <m:t>=</m:t>
                                </m:r>
                                <m:r>
                                  <a:rPr lang="en-IN" sz="1000" i="1"/>
                                  <m:t>𝑥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IN" sz="1000" dirty="0"/>
              </a:p>
              <a:p>
                <a:pPr>
                  <a:lnSpc>
                    <a:spcPct val="150000"/>
                  </a:lnSpc>
                </a:pPr>
                <a:r>
                  <a:rPr lang="en-IN" sz="1000" b="1" dirty="0"/>
                  <a:t>Transformation</a:t>
                </a:r>
                <a:r>
                  <a:rPr lang="en-IN" sz="1000" dirty="0"/>
                  <a:t>: </a:t>
                </a:r>
                <a14:m>
                  <m:oMath xmlns:m="http://schemas.openxmlformats.org/officeDocument/2006/math">
                    <m:r>
                      <a:rPr lang="en-IN" sz="1000"/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𝑔</m:t>
                        </m:r>
                        <m:d>
                          <m:dPr>
                            <m:ctrlPr>
                              <a:rPr lang="en-IN" sz="1000" i="1"/>
                            </m:ctrlPr>
                          </m:dPr>
                          <m:e>
                            <m:r>
                              <a:rPr lang="en-IN" sz="1000" i="1"/>
                              <m:t>𝑋</m:t>
                            </m:r>
                          </m:e>
                        </m:d>
                      </m:e>
                    </m:d>
                    <m:r>
                      <a:rPr lang="en-IN" sz="1000" i="1"/>
                      <m:t>=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IN" sz="1000" i="1"/>
                        </m:ctrlPr>
                      </m:naryPr>
                      <m:sub>
                        <m:r>
                          <a:rPr lang="en-IN" sz="1000" i="1"/>
                          <m:t>𝑥</m:t>
                        </m:r>
                      </m:sub>
                      <m:sup/>
                      <m:e>
                        <m:r>
                          <a:rPr lang="en-IN" sz="1000" i="1"/>
                          <m:t>𝑔</m:t>
                        </m:r>
                      </m:e>
                    </m:nary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</m:e>
                    </m:d>
                    <m:r>
                      <a:rPr lang="en-IN" sz="1000" i="1"/>
                      <m:t>⋅</m:t>
                    </m:r>
                    <m:r>
                      <a:rPr lang="en-IN" sz="1000" i="1"/>
                      <m:t>𝑃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  <m:r>
                          <a:rPr lang="en-IN" sz="1000" i="1"/>
                          <m:t>=</m:t>
                        </m:r>
                        <m:r>
                          <a:rPr lang="en-IN" sz="1000" i="1"/>
                          <m:t>𝑥</m:t>
                        </m:r>
                      </m:e>
                    </m:d>
                  </m:oMath>
                </a14:m>
                <a:endParaRPr lang="en-IN" sz="1000" dirty="0"/>
              </a:p>
              <a:p>
                <a:pPr>
                  <a:lnSpc>
                    <a:spcPct val="150000"/>
                  </a:lnSpc>
                </a:pPr>
                <a:r>
                  <a:rPr lang="en-IN" sz="1000" b="1" dirty="0"/>
                  <a:t>(</a:t>
                </a:r>
                <a:r>
                  <a:rPr lang="en-IN" sz="1000" b="1" dirty="0" err="1"/>
                  <a:t>d,p,q,r</a:t>
                </a:r>
                <a:r>
                  <a:rPr lang="en-IN" sz="1000" b="1" dirty="0"/>
                  <a:t>)</a:t>
                </a:r>
                <a:r>
                  <a:rPr lang="en-IN" sz="1000" b="1" dirty="0" err="1"/>
                  <a:t>binom</a:t>
                </a:r>
                <a:r>
                  <a:rPr lang="en-IN" sz="1000" dirty="0"/>
                  <a:t>: </a:t>
                </a:r>
                <a14:m>
                  <m:oMath xmlns:m="http://schemas.openxmlformats.org/officeDocument/2006/math">
                    <m:r>
                      <a:rPr lang="en-IN" sz="1000" i="1"/>
                      <m:t>𝑃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  <m:r>
                          <a:rPr lang="en-IN" sz="1000" i="1"/>
                          <m:t>=</m:t>
                        </m:r>
                        <m:r>
                          <a:rPr lang="en-IN" sz="1000" i="1"/>
                          <m:t>𝑥</m:t>
                        </m:r>
                        <m:r>
                          <a:rPr lang="en-IN" sz="1000" i="1"/>
                          <m:t>∣</m:t>
                        </m:r>
                        <m:r>
                          <a:rPr lang="en-IN" sz="1000" i="1"/>
                          <m:t>𝑝</m:t>
                        </m:r>
                      </m:e>
                    </m:d>
                    <m:r>
                      <a:rPr lang="en-IN" sz="1000" i="1"/>
                      <m:t>=</m:t>
                    </m:r>
                    <m:sSup>
                      <m:sSupPr>
                        <m:ctrlPr>
                          <a:rPr lang="en-IN" sz="1000" i="1"/>
                        </m:ctrlPr>
                      </m:sSupPr>
                      <m:e>
                        <m:r>
                          <a:rPr lang="en-IN" sz="1000" i="1"/>
                          <m:t>𝑝</m:t>
                        </m:r>
                      </m:e>
                      <m:sup>
                        <m:r>
                          <a:rPr lang="en-IN" sz="1000" i="1"/>
                          <m:t>𝑥</m:t>
                        </m:r>
                      </m:sup>
                    </m:sSup>
                    <m:sSup>
                      <m:sSupPr>
                        <m:ctrlPr>
                          <a:rPr lang="en-IN" sz="1000" i="1"/>
                        </m:ctrlPr>
                      </m:sSupPr>
                      <m:e>
                        <m:d>
                          <m:dPr>
                            <m:ctrlPr>
                              <a:rPr lang="en-IN" sz="1000" i="1"/>
                            </m:ctrlPr>
                          </m:dPr>
                          <m:e>
                            <m:r>
                              <a:rPr lang="en-IN" sz="1000" i="1"/>
                              <m:t>1−</m:t>
                            </m:r>
                            <m:r>
                              <a:rPr lang="en-IN" sz="1000" i="1"/>
                              <m:t>𝑝</m:t>
                            </m:r>
                          </m:e>
                        </m:d>
                      </m:e>
                      <m:sup>
                        <m:r>
                          <a:rPr lang="en-IN" sz="1000" i="1"/>
                          <m:t>1−</m:t>
                        </m:r>
                        <m:r>
                          <a:rPr lang="en-IN" sz="1000" i="1"/>
                          <m:t>𝑥</m:t>
                        </m:r>
                      </m:sup>
                    </m:sSup>
                  </m:oMath>
                </a14:m>
                <a:r>
                  <a:rPr lang="en-IN" sz="1000" dirty="0"/>
                  <a:t>, </a:t>
                </a:r>
                <a14:m>
                  <m:oMath xmlns:m="http://schemas.openxmlformats.org/officeDocument/2006/math">
                    <m:r>
                      <a:rPr lang="en-IN" sz="1000"/>
                      <m:t>𝔼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</m:e>
                    </m:d>
                    <m:r>
                      <a:rPr lang="en-IN" sz="1000" i="1"/>
                      <m:t>=</m:t>
                    </m:r>
                    <m:r>
                      <a:rPr lang="en-IN" sz="1000" i="1"/>
                      <m:t>𝑝</m:t>
                    </m:r>
                  </m:oMath>
                </a14:m>
                <a:r>
                  <a:rPr lang="en-IN" sz="1000" dirty="0"/>
                  <a:t>, </a:t>
                </a:r>
                <a14:m>
                  <m:oMath xmlns:m="http://schemas.openxmlformats.org/officeDocument/2006/math">
                    <m:r>
                      <a:rPr lang="en-IN" sz="1000" i="1"/>
                      <m:t>𝑉𝑎𝑟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</m:e>
                    </m:d>
                    <m:r>
                      <a:rPr lang="en-IN" sz="1000" i="1"/>
                      <m:t>=</m:t>
                    </m:r>
                    <m:r>
                      <a:rPr lang="en-IN" sz="1000" i="1"/>
                      <m:t>𝑝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1−</m:t>
                        </m:r>
                        <m:r>
                          <a:rPr lang="en-IN" sz="1000" i="1"/>
                          <m:t>𝑝</m:t>
                        </m:r>
                      </m:e>
                    </m:d>
                  </m:oMath>
                </a14:m>
                <a:endParaRPr lang="en-IN" sz="1000" dirty="0"/>
              </a:p>
              <a:p>
                <a:pPr>
                  <a:lnSpc>
                    <a:spcPct val="150000"/>
                  </a:lnSpc>
                </a:pPr>
                <a:r>
                  <a:rPr lang="en-IN" sz="1000" b="1" dirty="0" err="1"/>
                  <a:t>binom</a:t>
                </a:r>
                <a:r>
                  <a:rPr lang="en-IN" sz="1000" dirty="0"/>
                  <a:t>:</a:t>
                </a:r>
                <a14:m>
                  <m:oMath xmlns:m="http://schemas.openxmlformats.org/officeDocument/2006/math">
                    <m:r>
                      <a:rPr lang="en-IN" sz="1000" i="1"/>
                      <m:t>𝑃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  <m:r>
                          <a:rPr lang="en-IN" sz="1000" i="1"/>
                          <m:t>=</m:t>
                        </m:r>
                        <m:r>
                          <a:rPr lang="en-IN" sz="1000" i="1"/>
                          <m:t>𝑥</m:t>
                        </m:r>
                        <m:r>
                          <a:rPr lang="en-IN" sz="1000" i="1"/>
                          <m:t>∣</m:t>
                        </m:r>
                        <m:r>
                          <a:rPr lang="en-IN" sz="1000" i="1"/>
                          <m:t>𝑛</m:t>
                        </m:r>
                        <m:r>
                          <a:rPr lang="en-IN" sz="1000" i="1"/>
                          <m:t>,</m:t>
                        </m:r>
                        <m:r>
                          <a:rPr lang="en-IN" sz="1000" i="1"/>
                          <m:t>𝑝</m:t>
                        </m:r>
                      </m:e>
                    </m:d>
                    <m:r>
                      <a:rPr lang="en-IN" sz="1000" i="1"/>
                      <m:t>=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IN" sz="1000" i="1"/>
                            </m:ctrlPr>
                          </m:fPr>
                          <m:num>
                            <m:r>
                              <a:rPr lang="en-IN" sz="1000" i="1"/>
                              <m:t>𝑛</m:t>
                            </m:r>
                          </m:num>
                          <m:den>
                            <m:r>
                              <a:rPr lang="en-IN" sz="1000" i="1"/>
                              <m:t>𝑥</m:t>
                            </m:r>
                          </m:den>
                        </m:f>
                      </m:e>
                    </m:d>
                    <m:sSup>
                      <m:sSupPr>
                        <m:ctrlPr>
                          <a:rPr lang="en-IN" sz="1000" i="1"/>
                        </m:ctrlPr>
                      </m:sSupPr>
                      <m:e>
                        <m:r>
                          <a:rPr lang="en-IN" sz="1000" i="1"/>
                          <m:t>𝑝</m:t>
                        </m:r>
                      </m:e>
                      <m:sup>
                        <m:r>
                          <a:rPr lang="en-IN" sz="1000" i="1"/>
                          <m:t>𝑥</m:t>
                        </m:r>
                      </m:sup>
                    </m:sSup>
                    <m:sSup>
                      <m:sSupPr>
                        <m:ctrlPr>
                          <a:rPr lang="en-IN" sz="1000" i="1"/>
                        </m:ctrlPr>
                      </m:sSupPr>
                      <m:e>
                        <m:d>
                          <m:dPr>
                            <m:ctrlPr>
                              <a:rPr lang="en-IN" sz="1000" i="1"/>
                            </m:ctrlPr>
                          </m:dPr>
                          <m:e>
                            <m:r>
                              <a:rPr lang="en-IN" sz="1000" i="1"/>
                              <m:t>1−</m:t>
                            </m:r>
                            <m:r>
                              <a:rPr lang="en-IN" sz="1000" i="1"/>
                              <m:t>𝑝</m:t>
                            </m:r>
                          </m:e>
                        </m:d>
                      </m:e>
                      <m:sup>
                        <m:r>
                          <a:rPr lang="en-IN" sz="1000" i="1"/>
                          <m:t>𝑛</m:t>
                        </m:r>
                        <m:r>
                          <a:rPr lang="en-IN" sz="1000" i="1"/>
                          <m:t>−</m:t>
                        </m:r>
                        <m:r>
                          <a:rPr lang="en-IN" sz="1000" i="1"/>
                          <m:t>𝑥</m:t>
                        </m:r>
                      </m:sup>
                    </m:sSup>
                  </m:oMath>
                </a14:m>
                <a:r>
                  <a:rPr lang="en-IN" sz="1000" dirty="0"/>
                  <a:t>, </a:t>
                </a:r>
                <a14:m>
                  <m:oMath xmlns:m="http://schemas.openxmlformats.org/officeDocument/2006/math">
                    <m:r>
                      <a:rPr lang="en-IN" sz="1000"/>
                      <m:t>𝔼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</m:e>
                    </m:d>
                    <m:r>
                      <a:rPr lang="en-IN" sz="1000" i="1"/>
                      <m:t>=</m:t>
                    </m:r>
                    <m:r>
                      <a:rPr lang="en-IN" sz="1000" i="1"/>
                      <m:t>𝑛𝑝</m:t>
                    </m:r>
                  </m:oMath>
                </a14:m>
                <a:r>
                  <a:rPr lang="en-IN" sz="1000" dirty="0"/>
                  <a:t>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IN" sz="1000"/>
                      <m:t>Var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</m:e>
                    </m:d>
                    <m:r>
                      <a:rPr lang="en-IN" sz="1000" i="1"/>
                      <m:t>=</m:t>
                    </m:r>
                    <m:r>
                      <a:rPr lang="en-IN" sz="1000" i="1"/>
                      <m:t>𝑛𝑝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1−</m:t>
                        </m:r>
                        <m:r>
                          <a:rPr lang="en-IN" sz="1000" i="1"/>
                          <m:t>𝑝</m:t>
                        </m:r>
                      </m:e>
                    </m:d>
                  </m:oMath>
                </a14:m>
                <a:r>
                  <a:rPr lang="en-IN" sz="1000" dirty="0"/>
                  <a:t>, choose(n, x)</a:t>
                </a:r>
              </a:p>
              <a:p>
                <a:pPr>
                  <a:lnSpc>
                    <a:spcPct val="150000"/>
                  </a:lnSpc>
                </a:pPr>
                <a:r>
                  <a:rPr lang="en-IN" sz="1000" b="1" dirty="0" err="1"/>
                  <a:t>geom</a:t>
                </a:r>
                <a:r>
                  <a:rPr lang="en-IN" sz="1000" dirty="0"/>
                  <a:t>: </a:t>
                </a:r>
                <a14:m>
                  <m:oMath xmlns:m="http://schemas.openxmlformats.org/officeDocument/2006/math">
                    <m:r>
                      <a:rPr lang="en-IN" sz="1000" i="1"/>
                      <m:t>𝑃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  <m:r>
                          <a:rPr lang="en-IN" sz="1000" i="1"/>
                          <m:t>=</m:t>
                        </m:r>
                        <m:r>
                          <a:rPr lang="en-IN" sz="1000" i="1"/>
                          <m:t>𝑥</m:t>
                        </m:r>
                        <m:r>
                          <a:rPr lang="en-IN" sz="1000" i="1"/>
                          <m:t>∣</m:t>
                        </m:r>
                        <m:r>
                          <a:rPr lang="en-IN" sz="1000" i="1"/>
                          <m:t>𝑝</m:t>
                        </m:r>
                      </m:e>
                    </m:d>
                    <m:r>
                      <a:rPr lang="en-IN" sz="1000" i="1"/>
                      <m:t>=</m:t>
                    </m:r>
                    <m:r>
                      <a:rPr lang="en-IN" sz="1000" i="1"/>
                      <m:t>𝑝</m:t>
                    </m:r>
                    <m:sSup>
                      <m:sSupPr>
                        <m:ctrlPr>
                          <a:rPr lang="en-IN" sz="1000" i="1"/>
                        </m:ctrlPr>
                      </m:sSupPr>
                      <m:e>
                        <m:d>
                          <m:dPr>
                            <m:ctrlPr>
                              <a:rPr lang="en-IN" sz="1000" i="1"/>
                            </m:ctrlPr>
                          </m:dPr>
                          <m:e>
                            <m:r>
                              <a:rPr lang="en-IN" sz="1000" i="1"/>
                              <m:t>1−</m:t>
                            </m:r>
                            <m:r>
                              <a:rPr lang="en-IN" sz="1000" i="1"/>
                              <m:t>𝑝</m:t>
                            </m:r>
                          </m:e>
                        </m:d>
                      </m:e>
                      <m:sup>
                        <m:r>
                          <a:rPr lang="en-IN" sz="1000" i="1"/>
                          <m:t>𝑥</m:t>
                        </m:r>
                      </m:sup>
                    </m:sSup>
                  </m:oMath>
                </a14:m>
                <a:r>
                  <a:rPr lang="en-IN" sz="1000" dirty="0">
                    <a:effectLst/>
                  </a:rPr>
                  <a:t> , </a:t>
                </a:r>
                <a14:m>
                  <m:oMath xmlns:m="http://schemas.openxmlformats.org/officeDocument/2006/math">
                    <m:r>
                      <a:rPr lang="en-IN" sz="1000"/>
                      <m:t>𝔼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</m:e>
                    </m:d>
                    <m:r>
                      <a:rPr lang="en-IN" sz="1000" i="1"/>
                      <m:t>=</m:t>
                    </m:r>
                    <m:f>
                      <m:fPr>
                        <m:ctrlPr>
                          <a:rPr lang="en-IN" sz="1000" i="1"/>
                        </m:ctrlPr>
                      </m:fPr>
                      <m:num>
                        <m:r>
                          <a:rPr lang="en-IN" sz="1000" i="1"/>
                          <m:t>1−</m:t>
                        </m:r>
                        <m:r>
                          <a:rPr lang="en-IN" sz="1000" i="1"/>
                          <m:t>𝑝</m:t>
                        </m:r>
                      </m:num>
                      <m:den>
                        <m:r>
                          <a:rPr lang="en-IN" sz="1000" i="1"/>
                          <m:t>𝑝</m:t>
                        </m:r>
                      </m:den>
                    </m:f>
                  </m:oMath>
                </a14:m>
                <a:r>
                  <a:rPr lang="en-IN" sz="1000" dirty="0"/>
                  <a:t>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IN" sz="1000"/>
                      <m:t>Var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</m:e>
                    </m:d>
                    <m:r>
                      <a:rPr lang="en-IN" sz="1000" i="1"/>
                      <m:t>=</m:t>
                    </m:r>
                    <m:f>
                      <m:fPr>
                        <m:ctrlPr>
                          <a:rPr lang="en-IN" sz="1000" i="1"/>
                        </m:ctrlPr>
                      </m:fPr>
                      <m:num>
                        <m:r>
                          <a:rPr lang="en-IN" sz="1000" i="1"/>
                          <m:t>1−</m:t>
                        </m:r>
                        <m:r>
                          <a:rPr lang="en-IN" sz="1000" i="1"/>
                          <m:t>𝑝</m:t>
                        </m:r>
                      </m:num>
                      <m:den>
                        <m:sSup>
                          <m:sSupPr>
                            <m:ctrlPr>
                              <a:rPr lang="en-IN" sz="1000" i="1"/>
                            </m:ctrlPr>
                          </m:sSupPr>
                          <m:e>
                            <m:r>
                              <a:rPr lang="en-IN" sz="1000" i="1"/>
                              <m:t>𝑝</m:t>
                            </m:r>
                          </m:e>
                          <m:sup>
                            <m:r>
                              <a:rPr lang="en-IN" sz="1000" i="1"/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IN" sz="1000" dirty="0"/>
              </a:p>
              <a:p>
                <a:pPr>
                  <a:lnSpc>
                    <a:spcPct val="150000"/>
                  </a:lnSpc>
                </a:pPr>
                <a:r>
                  <a:rPr lang="en-IN" sz="1000" b="1" dirty="0" err="1"/>
                  <a:t>nbinom</a:t>
                </a:r>
                <a:r>
                  <a:rPr lang="en-IN" sz="1000" dirty="0"/>
                  <a:t>: </a:t>
                </a:r>
                <a14:m>
                  <m:oMath xmlns:m="http://schemas.openxmlformats.org/officeDocument/2006/math">
                    <m:r>
                      <a:rPr lang="en-IN" sz="1000" i="1"/>
                      <m:t>𝑃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  <m:r>
                          <a:rPr lang="en-IN" sz="1000" i="1"/>
                          <m:t>=</m:t>
                        </m:r>
                        <m:r>
                          <a:rPr lang="en-IN" sz="1000" i="1"/>
                          <m:t>𝑥</m:t>
                        </m:r>
                        <m:r>
                          <a:rPr lang="en-IN" sz="1000" i="1"/>
                          <m:t>∣</m:t>
                        </m:r>
                        <m:r>
                          <a:rPr lang="en-IN" sz="1000" i="1"/>
                          <m:t>𝑘</m:t>
                        </m:r>
                        <m:r>
                          <a:rPr lang="en-IN" sz="1000" i="1"/>
                          <m:t>,</m:t>
                        </m:r>
                        <m:r>
                          <a:rPr lang="en-IN" sz="1000" i="1"/>
                          <m:t>𝑝</m:t>
                        </m:r>
                      </m:e>
                    </m:d>
                    <m:r>
                      <a:rPr lang="en-IN" sz="1000" i="1"/>
                      <m:t>=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IN" sz="1000" i="1"/>
                            </m:ctrlPr>
                          </m:fPr>
                          <m:num>
                            <m:r>
                              <a:rPr lang="en-IN" sz="1000" i="1"/>
                              <m:t>𝑘</m:t>
                            </m:r>
                            <m:r>
                              <a:rPr lang="en-IN" sz="1000" i="1"/>
                              <m:t>−1+</m:t>
                            </m:r>
                            <m:r>
                              <a:rPr lang="en-IN" sz="1000" i="1"/>
                              <m:t>𝑥</m:t>
                            </m:r>
                          </m:num>
                          <m:den>
                            <m:r>
                              <a:rPr lang="en-IN" sz="1000" i="1"/>
                              <m:t>𝑥</m:t>
                            </m:r>
                          </m:den>
                        </m:f>
                      </m:e>
                    </m:d>
                    <m:sSup>
                      <m:sSupPr>
                        <m:ctrlPr>
                          <a:rPr lang="en-IN" sz="1000" i="1"/>
                        </m:ctrlPr>
                      </m:sSupPr>
                      <m:e>
                        <m:r>
                          <a:rPr lang="en-IN" sz="1000" i="1"/>
                          <m:t>𝑝</m:t>
                        </m:r>
                      </m:e>
                      <m:sup>
                        <m:r>
                          <a:rPr lang="en-IN" sz="1000" i="1"/>
                          <m:t>𝑘</m:t>
                        </m:r>
                      </m:sup>
                    </m:sSup>
                    <m:sSup>
                      <m:sSupPr>
                        <m:ctrlPr>
                          <a:rPr lang="en-IN" sz="1000" i="1"/>
                        </m:ctrlPr>
                      </m:sSupPr>
                      <m:e>
                        <m:d>
                          <m:dPr>
                            <m:ctrlPr>
                              <a:rPr lang="en-IN" sz="1000" i="1"/>
                            </m:ctrlPr>
                          </m:dPr>
                          <m:e>
                            <m:r>
                              <a:rPr lang="en-IN" sz="1000" i="1"/>
                              <m:t>1−</m:t>
                            </m:r>
                            <m:r>
                              <a:rPr lang="en-IN" sz="1000" i="1"/>
                              <m:t>𝑝</m:t>
                            </m:r>
                          </m:e>
                        </m:d>
                      </m:e>
                      <m:sup>
                        <m:r>
                          <a:rPr lang="en-IN" sz="1000" i="1"/>
                          <m:t>𝑥</m:t>
                        </m:r>
                      </m:sup>
                    </m:sSup>
                  </m:oMath>
                </a14:m>
                <a:r>
                  <a:rPr lang="en-IN" sz="1000" dirty="0"/>
                  <a:t>, </a:t>
                </a:r>
                <a14:m>
                  <m:oMath xmlns:m="http://schemas.openxmlformats.org/officeDocument/2006/math">
                    <m:r>
                      <a:rPr lang="en-IN" sz="1000"/>
                      <m:t>𝔼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</m:e>
                    </m:d>
                    <m:r>
                      <a:rPr lang="en-IN" sz="1000" i="1"/>
                      <m:t>=</m:t>
                    </m:r>
                    <m:f>
                      <m:fPr>
                        <m:ctrlPr>
                          <a:rPr lang="en-IN" sz="1000" i="1"/>
                        </m:ctrlPr>
                      </m:fPr>
                      <m:num>
                        <m:r>
                          <a:rPr lang="en-IN" sz="1000" i="1"/>
                          <m:t>𝑘</m:t>
                        </m:r>
                        <m:d>
                          <m:dPr>
                            <m:ctrlPr>
                              <a:rPr lang="en-IN" sz="1000" i="1"/>
                            </m:ctrlPr>
                          </m:dPr>
                          <m:e>
                            <m:r>
                              <a:rPr lang="en-IN" sz="1000" i="1"/>
                              <m:t>1−</m:t>
                            </m:r>
                            <m:r>
                              <a:rPr lang="en-IN" sz="1000" i="1"/>
                              <m:t>𝑝</m:t>
                            </m:r>
                          </m:e>
                        </m:d>
                      </m:num>
                      <m:den>
                        <m:r>
                          <a:rPr lang="en-IN" sz="1000" i="1"/>
                          <m:t>𝑝</m:t>
                        </m:r>
                      </m:den>
                    </m:f>
                  </m:oMath>
                </a14:m>
                <a:r>
                  <a:rPr lang="en-IN" sz="1000" dirty="0"/>
                  <a:t>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IN" sz="1000"/>
                      <m:t>Var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</m:e>
                    </m:d>
                    <m:r>
                      <a:rPr lang="en-IN" sz="1000" i="1"/>
                      <m:t>=</m:t>
                    </m:r>
                    <m:f>
                      <m:fPr>
                        <m:ctrlPr>
                          <a:rPr lang="en-IN" sz="1000" i="1"/>
                        </m:ctrlPr>
                      </m:fPr>
                      <m:num>
                        <m:r>
                          <a:rPr lang="en-IN" sz="1000" i="1"/>
                          <m:t>𝑘</m:t>
                        </m:r>
                        <m:d>
                          <m:dPr>
                            <m:ctrlPr>
                              <a:rPr lang="en-IN" sz="1000" i="1"/>
                            </m:ctrlPr>
                          </m:dPr>
                          <m:e>
                            <m:r>
                              <a:rPr lang="en-IN" sz="1000" i="1"/>
                              <m:t>1−</m:t>
                            </m:r>
                            <m:r>
                              <a:rPr lang="en-IN" sz="1000" i="1"/>
                              <m:t>𝑝</m:t>
                            </m:r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IN" sz="1000" i="1"/>
                            </m:ctrlPr>
                          </m:sSupPr>
                          <m:e>
                            <m:r>
                              <a:rPr lang="en-IN" sz="1000" i="1"/>
                              <m:t>𝑝</m:t>
                            </m:r>
                          </m:e>
                          <m:sup>
                            <m:r>
                              <a:rPr lang="en-IN" sz="1000" i="1"/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IN" sz="1000" dirty="0"/>
              </a:p>
              <a:p>
                <a:pPr>
                  <a:lnSpc>
                    <a:spcPct val="150000"/>
                  </a:lnSpc>
                </a:pPr>
                <a:r>
                  <a:rPr lang="en-IN" sz="1000" b="1" dirty="0"/>
                  <a:t>Pois</a:t>
                </a:r>
                <a:r>
                  <a:rPr lang="en-IN" sz="1000" dirty="0"/>
                  <a:t>: </a:t>
                </a:r>
                <a14:m>
                  <m:oMath xmlns:m="http://schemas.openxmlformats.org/officeDocument/2006/math">
                    <m:r>
                      <a:rPr lang="en-IN" sz="1000" i="1"/>
                      <m:t>𝑃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  <m:r>
                          <a:rPr lang="en-IN" sz="1000" i="1"/>
                          <m:t>=</m:t>
                        </m:r>
                        <m:r>
                          <a:rPr lang="en-IN" sz="1000" i="1"/>
                          <m:t>𝑥</m:t>
                        </m:r>
                        <m:r>
                          <a:rPr lang="en-IN" sz="1000" i="1"/>
                          <m:t>∣</m:t>
                        </m:r>
                        <m:r>
                          <a:rPr lang="en-IN" sz="1000" i="1"/>
                          <m:t>𝜆</m:t>
                        </m:r>
                      </m:e>
                    </m:d>
                    <m:r>
                      <a:rPr lang="en-IN" sz="1000" i="1"/>
                      <m:t>=</m:t>
                    </m:r>
                    <m:f>
                      <m:fPr>
                        <m:ctrlPr>
                          <a:rPr lang="en-IN" sz="1000" i="1"/>
                        </m:ctrlPr>
                      </m:fPr>
                      <m:num>
                        <m:sSup>
                          <m:sSupPr>
                            <m:ctrlPr>
                              <a:rPr lang="en-IN" sz="1000" i="1"/>
                            </m:ctrlPr>
                          </m:sSupPr>
                          <m:e>
                            <m:r>
                              <a:rPr lang="en-IN" sz="1000" i="1"/>
                              <m:t>𝜆</m:t>
                            </m:r>
                          </m:e>
                          <m:sup>
                            <m:r>
                              <a:rPr lang="en-IN" sz="1000" i="1"/>
                              <m:t>𝑥</m:t>
                            </m:r>
                          </m:sup>
                        </m:sSup>
                        <m:func>
                          <m:funcPr>
                            <m:ctrlPr>
                              <a:rPr lang="en-IN" sz="1000"/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IN" sz="1000"/>
                              <m:t>exp</m:t>
                            </m:r>
                          </m:fName>
                          <m:e>
                            <m:d>
                              <m:dPr>
                                <m:ctrlPr>
                                  <a:rPr lang="en-IN" sz="1000" i="1"/>
                                </m:ctrlPr>
                              </m:dPr>
                              <m:e>
                                <m:r>
                                  <a:rPr lang="en-IN" sz="1000" i="1"/>
                                  <m:t>−</m:t>
                                </m:r>
                                <m:r>
                                  <a:rPr lang="en-IN" sz="1000" i="1"/>
                                  <m:t>𝜆</m:t>
                                </m:r>
                              </m:e>
                            </m:d>
                          </m:e>
                        </m:func>
                      </m:num>
                      <m:den>
                        <m:r>
                          <a:rPr lang="en-IN" sz="1000" i="1"/>
                          <m:t>𝑥</m:t>
                        </m:r>
                        <m:r>
                          <a:rPr lang="en-IN" sz="1000" i="1"/>
                          <m:t>!</m:t>
                        </m:r>
                      </m:den>
                    </m:f>
                  </m:oMath>
                </a14:m>
                <a:r>
                  <a:rPr lang="en-IN" sz="1000" dirty="0">
                    <a:effectLst/>
                  </a:rPr>
                  <a:t> , </a:t>
                </a:r>
                <a14:m>
                  <m:oMath xmlns:m="http://schemas.openxmlformats.org/officeDocument/2006/math">
                    <m:r>
                      <a:rPr lang="en-IN" sz="1000"/>
                      <m:t>𝔼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</m:e>
                    </m:d>
                    <m:r>
                      <a:rPr lang="en-IN" sz="1000" i="1"/>
                      <m:t>=</m:t>
                    </m:r>
                    <m:r>
                      <a:rPr lang="en-IN" sz="1000" i="1"/>
                      <m:t>𝜆</m:t>
                    </m:r>
                  </m:oMath>
                </a14:m>
                <a:r>
                  <a:rPr lang="en-IN" sz="1000" dirty="0"/>
                  <a:t>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IN" sz="1000"/>
                      <m:t>Var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</m:e>
                    </m:d>
                    <m:r>
                      <a:rPr lang="en-IN" sz="1000" i="1"/>
                      <m:t>=</m:t>
                    </m:r>
                    <m:r>
                      <a:rPr lang="en-IN" sz="1000" i="1"/>
                      <m:t>𝜆</m:t>
                    </m:r>
                  </m:oMath>
                </a14:m>
                <a:endParaRPr lang="en-IN" sz="1000" dirty="0"/>
              </a:p>
              <a:p>
                <a:pPr>
                  <a:lnSpc>
                    <a:spcPct val="150000"/>
                  </a:lnSpc>
                </a:pPr>
                <a:r>
                  <a:rPr lang="en-IN" sz="1000" b="1" dirty="0"/>
                  <a:t>Covariance</a:t>
                </a:r>
                <a:r>
                  <a:rPr lang="en-IN" sz="1000" dirty="0"/>
                  <a:t>: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IN" sz="1000"/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IN" sz="1000"/>
                          <m:t>Cov</m:t>
                        </m:r>
                      </m:fName>
                      <m:e>
                        <m:d>
                          <m:dPr>
                            <m:ctrlPr>
                              <a:rPr lang="en-IN" sz="1000" i="1"/>
                            </m:ctrlPr>
                          </m:dPr>
                          <m:e>
                            <m:r>
                              <a:rPr lang="en-IN" sz="1000" i="1"/>
                              <m:t>𝑋</m:t>
                            </m:r>
                            <m:r>
                              <a:rPr lang="en-IN" sz="1000" i="1"/>
                              <m:t>,</m:t>
                            </m:r>
                            <m:r>
                              <a:rPr lang="en-IN" sz="1000" i="1"/>
                              <m:t>𝑌</m:t>
                            </m:r>
                          </m:e>
                        </m:d>
                      </m:e>
                    </m:func>
                    <m:r>
                      <a:rPr lang="en-IN" sz="1000" i="1"/>
                      <m:t>=</m:t>
                    </m:r>
                    <m:r>
                      <a:rPr lang="en-IN" sz="1000"/>
                      <m:t>𝔼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𝑋𝑌</m:t>
                        </m:r>
                      </m:e>
                    </m:d>
                    <m:r>
                      <a:rPr lang="en-IN" sz="1000" i="1"/>
                      <m:t>−</m:t>
                    </m:r>
                    <m:d>
                      <m:dPr>
                        <m:begChr m:val="["/>
                        <m:endChr m:val="]"/>
                        <m:ctrlPr>
                          <a:rPr lang="en-IN" sz="1000"/>
                        </m:ctrlPr>
                      </m:dPr>
                      <m:e>
                        <m:r>
                          <a:rPr lang="en-IN" sz="1000"/>
                          <m:t>𝔼</m:t>
                        </m:r>
                        <m:d>
                          <m:dPr>
                            <m:ctrlPr>
                              <a:rPr lang="en-IN" sz="1000" i="1"/>
                            </m:ctrlPr>
                          </m:dPr>
                          <m:e>
                            <m:r>
                              <a:rPr lang="en-IN" sz="1000" i="1"/>
                              <m:t>𝑋</m:t>
                            </m:r>
                          </m:e>
                        </m:d>
                        <m:r>
                          <a:rPr lang="en-IN" sz="1000"/>
                          <m:t>𝔼</m:t>
                        </m:r>
                        <m:d>
                          <m:dPr>
                            <m:ctrlPr>
                              <a:rPr lang="en-IN" sz="1000" i="1"/>
                            </m:ctrlPr>
                          </m:dPr>
                          <m:e>
                            <m:r>
                              <a:rPr lang="en-IN" sz="1000" i="1"/>
                              <m:t>𝑌</m:t>
                            </m:r>
                          </m:e>
                        </m:d>
                      </m:e>
                    </m:d>
                  </m:oMath>
                </a14:m>
                <a:r>
                  <a:rPr lang="en-IN" sz="1000" dirty="0"/>
                  <a:t>, </a:t>
                </a:r>
                <a14:m>
                  <m:oMath xmlns:m="http://schemas.openxmlformats.org/officeDocument/2006/math">
                    <m:r>
                      <a:rPr lang="en-IN" sz="1000"/>
                      <m:t>𝔼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𝑋𝑌</m:t>
                        </m:r>
                      </m:e>
                    </m:d>
                    <m:r>
                      <a:rPr lang="en-IN" sz="1000" i="1"/>
                      <m:t>=</m:t>
                    </m:r>
                    <m:nary>
                      <m:naryPr>
                        <m:chr m:val="∑"/>
                        <m:limLoc m:val="undOvr"/>
                        <m:subHide m:val="on"/>
                        <m:supHide m:val="on"/>
                        <m:ctrlPr>
                          <a:rPr lang="en-IN" sz="1000" i="1"/>
                        </m:ctrlPr>
                      </m:naryPr>
                      <m:sub/>
                      <m:sup/>
                      <m:e>
                        <m:r>
                          <a:rPr lang="en-IN" sz="1000" i="1"/>
                          <m:t>𝑥</m:t>
                        </m:r>
                      </m:e>
                    </m:nary>
                    <m:r>
                      <a:rPr lang="en-IN" sz="1000" i="1"/>
                      <m:t>⋅</m:t>
                    </m:r>
                    <m:r>
                      <a:rPr lang="en-IN" sz="1000" i="1"/>
                      <m:t>𝑦</m:t>
                    </m:r>
                    <m:r>
                      <a:rPr lang="en-IN" sz="1000" i="1"/>
                      <m:t>⋅</m:t>
                    </m:r>
                    <m:r>
                      <a:rPr lang="en-IN" sz="1000" i="1"/>
                      <m:t>𝑃</m:t>
                    </m:r>
                    <m:r>
                      <a:rPr lang="en-IN" sz="1000" i="1"/>
                      <m:t>(</m:t>
                    </m:r>
                    <m:r>
                      <a:rPr lang="en-IN" sz="1000" i="1"/>
                      <m:t>𝑋</m:t>
                    </m:r>
                    <m:r>
                      <a:rPr lang="en-IN" sz="1000" i="1"/>
                      <m:t>∩</m:t>
                    </m:r>
                    <m:r>
                      <a:rPr lang="en-IN" sz="1000" i="1"/>
                      <m:t>𝑌</m:t>
                    </m:r>
                    <m:r>
                      <a:rPr lang="en-IN" sz="1000" i="1"/>
                      <m:t>)</m:t>
                    </m:r>
                  </m:oMath>
                </a14:m>
                <a:endParaRPr lang="en-IN" sz="1000" dirty="0"/>
              </a:p>
              <a:p>
                <a:pPr>
                  <a:lnSpc>
                    <a:spcPct val="150000"/>
                  </a:lnSpc>
                </a:pPr>
                <a:r>
                  <a:rPr lang="en-IN" sz="1000" u="sng" dirty="0">
                    <a:hlinkClick r:id="rId2"/>
                  </a:rPr>
                  <a:t>cor</a:t>
                </a:r>
                <a:r>
                  <a:rPr lang="en-IN" sz="1000" dirty="0"/>
                  <a:t>(x, method = "</a:t>
                </a:r>
                <a:r>
                  <a:rPr lang="en-IN" sz="1000" dirty="0" err="1"/>
                  <a:t>pearson</a:t>
                </a:r>
                <a:r>
                  <a:rPr lang="en-IN" sz="1000" dirty="0"/>
                  <a:t>")</a:t>
                </a:r>
                <a:r>
                  <a:rPr lang="en-IN" sz="1000" dirty="0">
                    <a:effectLst/>
                  </a:rPr>
                  <a:t>[1, 2], </a:t>
                </a:r>
                <a:r>
                  <a:rPr lang="en-IN" sz="1000" u="sng" dirty="0">
                    <a:hlinkClick r:id="rId2"/>
                  </a:rPr>
                  <a:t>cor</a:t>
                </a:r>
                <a:r>
                  <a:rPr lang="en-IN" sz="1000" dirty="0"/>
                  <a:t>(x, method = "</a:t>
                </a:r>
                <a:r>
                  <a:rPr lang="en-IN" sz="1000" dirty="0" err="1"/>
                  <a:t>kendall</a:t>
                </a:r>
                <a:r>
                  <a:rPr lang="en-IN" sz="1000" dirty="0"/>
                  <a:t>")</a:t>
                </a:r>
                <a:r>
                  <a:rPr lang="en-IN" sz="1000" dirty="0">
                    <a:effectLst/>
                  </a:rPr>
                  <a:t>[1, 2] </a:t>
                </a:r>
              </a:p>
              <a:p>
                <a:pPr>
                  <a:lnSpc>
                    <a:spcPct val="150000"/>
                  </a:lnSpc>
                </a:pPr>
                <a:r>
                  <a:rPr lang="en-IN" sz="1000" b="1" dirty="0"/>
                  <a:t>Law of total E</a:t>
                </a:r>
                <a:r>
                  <a:rPr lang="en-IN" sz="1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000"/>
                        </m:ctrlPr>
                      </m:sSubPr>
                      <m:e>
                        <m:r>
                          <a:rPr lang="en-IN" sz="1000"/>
                          <m:t>𝔼</m:t>
                        </m:r>
                      </m:e>
                      <m:sub>
                        <m:r>
                          <a:rPr lang="en-IN" sz="1000" i="1"/>
                          <m:t>𝑌</m:t>
                        </m:r>
                      </m:sub>
                    </m:sSub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𝑌</m:t>
                        </m:r>
                      </m:e>
                    </m:d>
                    <m:r>
                      <a:rPr lang="en-IN" sz="1000" i="1"/>
                      <m:t>=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IN" sz="1000" i="1"/>
                        </m:ctrlPr>
                      </m:naryPr>
                      <m:sub>
                        <m:r>
                          <a:rPr lang="en-IN" sz="1000" i="1"/>
                          <m:t>𝑥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IN" sz="1000"/>
                            </m:ctrlPr>
                          </m:sSubPr>
                          <m:e>
                            <m:r>
                              <a:rPr lang="en-IN" sz="1000"/>
                              <m:t>𝔼</m:t>
                            </m:r>
                          </m:e>
                          <m:sub>
                            <m:r>
                              <a:rPr lang="en-IN" sz="1000" i="1"/>
                              <m:t>𝑌</m:t>
                            </m:r>
                          </m:sub>
                        </m:sSub>
                      </m:e>
                    </m:nary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𝑌</m:t>
                        </m:r>
                        <m:r>
                          <a:rPr lang="en-IN" sz="1000" i="1"/>
                          <m:t>∣</m:t>
                        </m:r>
                        <m:r>
                          <a:rPr lang="en-IN" sz="1000" i="1"/>
                          <m:t>𝑋</m:t>
                        </m:r>
                        <m:r>
                          <a:rPr lang="en-IN" sz="1000" i="1"/>
                          <m:t>=</m:t>
                        </m:r>
                        <m:r>
                          <a:rPr lang="en-IN" sz="1000" i="1"/>
                          <m:t>𝑥</m:t>
                        </m:r>
                      </m:e>
                    </m:d>
                    <m:r>
                      <a:rPr lang="en-IN" sz="1000" i="1"/>
                      <m:t>⋅</m:t>
                    </m:r>
                    <m:r>
                      <a:rPr lang="en-IN" sz="1000" i="1"/>
                      <m:t>𝑃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  <m:r>
                          <a:rPr lang="en-IN" sz="1000" i="1"/>
                          <m:t>=</m:t>
                        </m:r>
                        <m:r>
                          <a:rPr lang="en-IN" sz="1000" i="1"/>
                          <m:t>𝑥</m:t>
                        </m:r>
                      </m:e>
                    </m:d>
                  </m:oMath>
                </a14:m>
                <a:r>
                  <a:rPr lang="en-IN" sz="1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1000"/>
                        </m:ctrlPr>
                      </m:sSubPr>
                      <m:e>
                        <m:r>
                          <a:rPr lang="en-IN" sz="1000"/>
                          <m:t>𝔼</m:t>
                        </m:r>
                      </m:e>
                      <m:sub>
                        <m:r>
                          <a:rPr lang="en-IN" sz="1000" i="1"/>
                          <m:t>𝑌</m:t>
                        </m:r>
                      </m:sub>
                    </m:sSub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𝑌</m:t>
                        </m:r>
                        <m:r>
                          <a:rPr lang="en-IN" sz="1000" i="1"/>
                          <m:t>∣</m:t>
                        </m:r>
                        <m:r>
                          <a:rPr lang="en-IN" sz="1000" i="1"/>
                          <m:t>𝑋</m:t>
                        </m:r>
                        <m:r>
                          <a:rPr lang="en-IN" sz="1000" i="1"/>
                          <m:t>=</m:t>
                        </m:r>
                        <m:r>
                          <a:rPr lang="en-IN" sz="1000" i="1"/>
                          <m:t>𝑥</m:t>
                        </m:r>
                      </m:e>
                    </m:d>
                    <m:r>
                      <a:rPr lang="en-IN" sz="1000" i="1"/>
                      <m:t>=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IN" sz="1000" i="1"/>
                        </m:ctrlPr>
                      </m:naryPr>
                      <m:sub>
                        <m:r>
                          <a:rPr lang="en-IN" sz="1000" i="1"/>
                          <m:t>𝑦</m:t>
                        </m:r>
                      </m:sub>
                      <m:sup/>
                      <m:e>
                        <m:r>
                          <a:rPr lang="en-IN" sz="1000" i="1"/>
                          <m:t>𝑦</m:t>
                        </m:r>
                      </m:e>
                    </m:nary>
                    <m:r>
                      <a:rPr lang="en-IN" sz="1000" i="1"/>
                      <m:t>⋅</m:t>
                    </m:r>
                    <m:r>
                      <a:rPr lang="en-IN" sz="1000" i="1"/>
                      <m:t>𝑃</m:t>
                    </m:r>
                    <m:r>
                      <a:rPr lang="en-IN" sz="1000" i="1"/>
                      <m:t>(</m:t>
                    </m:r>
                    <m:r>
                      <a:rPr lang="en-IN" sz="1000" i="1"/>
                      <m:t>𝑌</m:t>
                    </m:r>
                    <m:r>
                      <a:rPr lang="en-IN" sz="1000" i="1"/>
                      <m:t>∣</m:t>
                    </m:r>
                    <m:r>
                      <a:rPr lang="en-IN" sz="1000" i="1"/>
                      <m:t>𝑋</m:t>
                    </m:r>
                    <m:r>
                      <a:rPr lang="en-IN" sz="1000" i="1"/>
                      <m:t>=</m:t>
                    </m:r>
                    <m:r>
                      <a:rPr lang="en-IN" sz="1000" i="1"/>
                      <m:t>𝑥</m:t>
                    </m:r>
                    <m:r>
                      <a:rPr lang="en-IN" sz="1000" i="1"/>
                      <m:t>)</m:t>
                    </m:r>
                  </m:oMath>
                </a14:m>
                <a:endParaRPr lang="en-CA" sz="1000" i="1" dirty="0"/>
              </a:p>
              <a:p>
                <a:pPr>
                  <a:lnSpc>
                    <a:spcPct val="150000"/>
                  </a:lnSpc>
                </a:pPr>
                <a:r>
                  <a:rPr lang="en-IN" sz="1000" b="1" dirty="0"/>
                  <a:t>Skewness</a:t>
                </a:r>
                <a:r>
                  <a:rPr lang="en-IN" sz="1000" dirty="0"/>
                  <a:t>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CA" sz="1000" b="0" i="0" smtClean="0"/>
                      <m:t>S</m:t>
                    </m:r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𝑋</m:t>
                        </m:r>
                      </m:e>
                    </m:d>
                    <m:r>
                      <a:rPr lang="en-IN" sz="1000" i="1"/>
                      <m:t>=</m:t>
                    </m:r>
                    <m:r>
                      <a:rPr lang="en-IN" sz="1000"/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IN" sz="1000" i="1"/>
                        </m:ctrlPr>
                      </m:dPr>
                      <m:e>
                        <m:sSup>
                          <m:sSupPr>
                            <m:ctrlPr>
                              <a:rPr lang="en-IN" sz="1000" i="1"/>
                            </m:ctrlPr>
                          </m:sSupPr>
                          <m:e>
                            <m:d>
                              <m:dPr>
                                <m:ctrlPr>
                                  <a:rPr lang="en-IN" sz="1000" i="1"/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IN" sz="1000" i="1"/>
                                    </m:ctrlPr>
                                  </m:fPr>
                                  <m:num>
                                    <m:r>
                                      <a:rPr lang="en-IN" sz="1000" i="1"/>
                                      <m:t>𝑋</m:t>
                                    </m:r>
                                    <m:r>
                                      <a:rPr lang="en-IN" sz="1000" i="1"/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IN" sz="1000" i="1"/>
                                        </m:ctrlPr>
                                      </m:sSubPr>
                                      <m:e>
                                        <m:r>
                                          <a:rPr lang="en-IN" sz="1000" i="1"/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IN" sz="1000" i="1"/>
                                          <m:t>𝑋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IN" sz="1000" i="1"/>
                                        </m:ctrlPr>
                                      </m:sSubPr>
                                      <m:e>
                                        <m:r>
                                          <a:rPr lang="en-IN" sz="1000" i="1"/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IN" sz="1000" i="1"/>
                                          <m:t>𝑋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IN" sz="1000" i="1"/>
                              <m:t>3</m:t>
                            </m:r>
                          </m:sup>
                        </m:sSup>
                      </m:e>
                    </m:d>
                    <m:r>
                      <a:rPr lang="en-IN" sz="1000" i="1"/>
                      <m:t>=</m:t>
                    </m:r>
                    <m:nary>
                      <m:naryPr>
                        <m:limLoc m:val="subSup"/>
                        <m:supHide m:val="on"/>
                        <m:ctrlPr>
                          <a:rPr lang="en-IN" sz="1000" i="1"/>
                        </m:ctrlPr>
                      </m:naryPr>
                      <m:sub>
                        <m:r>
                          <a:rPr lang="en-IN" sz="1000" i="1"/>
                          <m:t>𝑥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IN" sz="1000" i="1"/>
                            </m:ctrlPr>
                          </m:sSupPr>
                          <m:e>
                            <m:d>
                              <m:dPr>
                                <m:ctrlPr>
                                  <a:rPr lang="en-IN" sz="1000" i="1"/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IN" sz="1000" i="1"/>
                                    </m:ctrlPr>
                                  </m:fPr>
                                  <m:num>
                                    <m:r>
                                      <a:rPr lang="en-IN" sz="1000" i="1"/>
                                      <m:t>𝑥</m:t>
                                    </m:r>
                                    <m:r>
                                      <a:rPr lang="en-IN" sz="1000" i="1"/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IN" sz="1000" i="1"/>
                                        </m:ctrlPr>
                                      </m:sSubPr>
                                      <m:e>
                                        <m:r>
                                          <a:rPr lang="en-IN" sz="1000" i="1"/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IN" sz="1000" i="1"/>
                                          <m:t>𝑋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IN" sz="1000" i="1"/>
                                        </m:ctrlPr>
                                      </m:sSubPr>
                                      <m:e>
                                        <m:r>
                                          <a:rPr lang="en-IN" sz="1000" i="1"/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IN" sz="1000" i="1"/>
                                          <m:t>𝑋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IN" sz="1000" i="1"/>
                              <m:t>3</m:t>
                            </m:r>
                          </m:sup>
                        </m:sSup>
                      </m:e>
                    </m:nary>
                    <m:r>
                      <a:rPr lang="en-IN" sz="1000" i="1"/>
                      <m:t>⋅</m:t>
                    </m:r>
                    <m:sSub>
                      <m:sSubPr>
                        <m:ctrlPr>
                          <a:rPr lang="en-IN" sz="1000" i="1"/>
                        </m:ctrlPr>
                      </m:sSubPr>
                      <m:e>
                        <m:r>
                          <a:rPr lang="en-IN" sz="1000" i="1"/>
                          <m:t>𝑓</m:t>
                        </m:r>
                      </m:e>
                      <m:sub>
                        <m:r>
                          <a:rPr lang="en-IN" sz="1000" i="1"/>
                          <m:t>𝑋</m:t>
                        </m:r>
                      </m:sub>
                    </m:sSub>
                    <m:d>
                      <m:dPr>
                        <m:ctrlPr>
                          <a:rPr lang="en-IN" sz="1000" i="1"/>
                        </m:ctrlPr>
                      </m:dPr>
                      <m:e>
                        <m:r>
                          <a:rPr lang="en-IN" sz="1000" i="1"/>
                          <m:t>𝑥</m:t>
                        </m:r>
                      </m:e>
                    </m:d>
                    <m:r>
                      <m:rPr>
                        <m:nor/>
                      </m:rPr>
                      <a:rPr lang="en-IN" sz="1000"/>
                      <m:t>d</m:t>
                    </m:r>
                    <m:r>
                      <a:rPr lang="en-IN" sz="1000" i="1"/>
                      <m:t>𝑥</m:t>
                    </m:r>
                  </m:oMath>
                </a14:m>
                <a:r>
                  <a:rPr lang="en-IN" sz="1000" dirty="0"/>
                  <a:t>, LS : mean &lt; median &lt; mode</a:t>
                </a:r>
              </a:p>
              <a:p>
                <a:endParaRPr lang="en-IN" sz="1000" dirty="0"/>
              </a:p>
              <a:p>
                <a:endParaRPr lang="en-IN" sz="10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ED1C17-3424-E091-A55C-6DC284291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11285034" cy="3926844"/>
              </a:xfrm>
              <a:prstGeom prst="rect">
                <a:avLst/>
              </a:prstGeom>
              <a:blipFill>
                <a:blip r:embed="rId3"/>
                <a:stretch>
                  <a:fillRect b="-3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5516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225</Words>
  <Application>Microsoft Macintosh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kshitij agarwal</dc:creator>
  <cp:lastModifiedBy>kshitij agarwal</cp:lastModifiedBy>
  <cp:revision>3</cp:revision>
  <dcterms:created xsi:type="dcterms:W3CDTF">2026-09-27T07:07:28Z</dcterms:created>
  <dcterms:modified xsi:type="dcterms:W3CDTF">2026-09-27T07:21:55Z</dcterms:modified>
</cp:coreProperties>
</file>